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Inter"/>
      <p:regular r:id="rId17"/>
      <p:bold r:id="rId18"/>
      <p:italic r:id="rId19"/>
      <p:boldItalic r:id="rId20"/>
    </p:embeddedFont>
    <p:embeddedFont>
      <p:font typeface="Inter ExtraBold"/>
      <p:bold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InterExtraBold-boldItalic.fntdata"/><Relationship Id="rId21" Type="http://schemas.openxmlformats.org/officeDocument/2006/relationships/font" Target="fonts/InterExtraBold-bold.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ter-regular.fntdata"/><Relationship Id="rId16" Type="http://schemas.openxmlformats.org/officeDocument/2006/relationships/slide" Target="slides/slide11.xml"/><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6e7cf68d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6e7cf68d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ef5063f5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ef5063f5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6e7cf68d7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6e7cf68d7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e7cf68d7d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e7cf68d7d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ef5063f5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ef5063f5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ef5063f5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ef5063f5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ef5063f5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ef5063f5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ef5063f5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ef5063f5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ef5063f5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ef5063f5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e7cf68d7d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e7cf68d7d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ef5063f5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ef5063f5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1" name="Shape 61"/>
        <p:cNvGrpSpPr/>
        <p:nvPr/>
      </p:nvGrpSpPr>
      <p:grpSpPr>
        <a:xfrm>
          <a:off x="0" y="0"/>
          <a:ext cx="0" cy="0"/>
          <a:chOff x="0" y="0"/>
          <a:chExt cx="0" cy="0"/>
        </a:xfrm>
      </p:grpSpPr>
      <p:sp>
        <p:nvSpPr>
          <p:cNvPr id="62" name="Google Shape;6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7" name="Shape 67"/>
        <p:cNvGrpSpPr/>
        <p:nvPr/>
      </p:nvGrpSpPr>
      <p:grpSpPr>
        <a:xfrm>
          <a:off x="0" y="0"/>
          <a:ext cx="0" cy="0"/>
          <a:chOff x="0" y="0"/>
          <a:chExt cx="0" cy="0"/>
        </a:xfrm>
      </p:grpSpPr>
      <p:sp>
        <p:nvSpPr>
          <p:cNvPr id="68" name="Google Shape;6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9" name="Shape 69"/>
        <p:cNvGrpSpPr/>
        <p:nvPr/>
      </p:nvGrpSpPr>
      <p:grpSpPr>
        <a:xfrm>
          <a:off x="0" y="0"/>
          <a:ext cx="0" cy="0"/>
          <a:chOff x="0" y="0"/>
          <a:chExt cx="0" cy="0"/>
        </a:xfrm>
      </p:grpSpPr>
      <p:sp>
        <p:nvSpPr>
          <p:cNvPr id="70" name="Google Shape;7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1" name="Shape 71"/>
        <p:cNvGrpSpPr/>
        <p:nvPr/>
      </p:nvGrpSpPr>
      <p:grpSpPr>
        <a:xfrm>
          <a:off x="0" y="0"/>
          <a:ext cx="0" cy="0"/>
          <a:chOff x="0" y="0"/>
          <a:chExt cx="0" cy="0"/>
        </a:xfrm>
      </p:grpSpPr>
      <p:sp>
        <p:nvSpPr>
          <p:cNvPr id="72" name="Google Shape;7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sp>
        <p:nvSpPr>
          <p:cNvPr id="74" name="Google Shape;7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hyperlink" Target="https://docs.google.com/forms/d/e/1FAIpQLScg7Oh5g_V_0u4EFi2SppjfG83hrgBw-gNWdmC1cAe-4re6Eg/viewform" TargetMode="External"/><Relationship Id="rId4" Type="http://schemas.openxmlformats.org/officeDocument/2006/relationships/hyperlink" Target="https://us2.make.com/public/shared-scenario/dOc5dc0HQW0/automation-feedback-customer" TargetMode="External"/><Relationship Id="rId5" Type="http://schemas.openxmlformats.org/officeDocument/2006/relationships/hyperlink" Target="https://drive.google.com/file/d/18hMKlGHmDA8SzSAc62l7f3zBKbeC70yQ/view?usp=sharing" TargetMode="External"/><Relationship Id="rId6" Type="http://schemas.openxmlformats.org/officeDocument/2006/relationships/hyperlink" Target="https://docs.google.com/spreadsheets/d/1-Gk9DpBHr8CDscm9T4DnkPqVu42G95c22qVqHnaXlTU/edit?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28"/>
          <p:cNvSpPr txBox="1"/>
          <p:nvPr>
            <p:ph idx="4294967295" type="ctrTitle"/>
          </p:nvPr>
        </p:nvSpPr>
        <p:spPr>
          <a:xfrm>
            <a:off x="64008" y="638300"/>
            <a:ext cx="8520600" cy="21009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5800">
                <a:solidFill>
                  <a:srgbClr val="1A1A1A"/>
                </a:solidFill>
                <a:latin typeface="Inter ExtraBold"/>
                <a:ea typeface="Inter ExtraBold"/>
                <a:cs typeface="Inter ExtraBold"/>
                <a:sym typeface="Inter ExtraBold"/>
              </a:rPr>
              <a:t>Automated Feedback Analysis Workflow</a:t>
            </a:r>
            <a:endParaRPr sz="5800">
              <a:solidFill>
                <a:srgbClr val="1A1A1A"/>
              </a:solidFill>
              <a:latin typeface="Inter ExtraBold"/>
              <a:ea typeface="Inter ExtraBold"/>
              <a:cs typeface="Inter ExtraBold"/>
              <a:sym typeface="Inter ExtraBold"/>
            </a:endParaRPr>
          </a:p>
          <a:p>
            <a:pPr indent="0" lvl="0" marL="0" rtl="0" algn="l">
              <a:lnSpc>
                <a:spcPct val="90000"/>
              </a:lnSpc>
              <a:spcBef>
                <a:spcPts val="0"/>
              </a:spcBef>
              <a:spcAft>
                <a:spcPts val="0"/>
              </a:spcAft>
              <a:buNone/>
            </a:pPr>
            <a:r>
              <a:rPr lang="en" sz="2900">
                <a:solidFill>
                  <a:srgbClr val="1A1A1A"/>
                </a:solidFill>
                <a:latin typeface="Inter ExtraBold"/>
                <a:ea typeface="Inter ExtraBold"/>
                <a:cs typeface="Inter ExtraBold"/>
                <a:sym typeface="Inter ExtraBold"/>
              </a:rPr>
              <a:t>Kunal Gaurav</a:t>
            </a:r>
            <a:endParaRPr sz="2900">
              <a:solidFill>
                <a:srgbClr val="1A1A1A"/>
              </a:solidFill>
              <a:latin typeface="Inter ExtraBold"/>
              <a:ea typeface="Inter ExtraBold"/>
              <a:cs typeface="Inter ExtraBold"/>
              <a:sym typeface="Inter ExtraBold"/>
            </a:endParaRPr>
          </a:p>
        </p:txBody>
      </p:sp>
      <p:pic>
        <p:nvPicPr>
          <p:cNvPr id="83" name="Google Shape;83;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84" name="Google Shape;84;p28"/>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AI Automation | Project 3</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9"/>
          <p:cNvSpPr txBox="1"/>
          <p:nvPr/>
        </p:nvSpPr>
        <p:spPr>
          <a:xfrm>
            <a:off x="91200" y="300950"/>
            <a:ext cx="8809500" cy="3786600"/>
          </a:xfrm>
          <a:prstGeom prst="rect">
            <a:avLst/>
          </a:prstGeom>
          <a:noFill/>
          <a:ln>
            <a:noFill/>
          </a:ln>
        </p:spPr>
        <p:txBody>
          <a:bodyPr anchorCtr="0" anchor="t" bIns="91425" lIns="91425" spcFirstLastPara="1" rIns="91425" wrap="square" tIns="91425">
            <a:spAutoFit/>
          </a:bodyPr>
          <a:lstStyle/>
          <a:p>
            <a:pPr indent="457200" lvl="0" marL="1371600" rtl="0" algn="l">
              <a:spcBef>
                <a:spcPts val="0"/>
              </a:spcBef>
              <a:spcAft>
                <a:spcPts val="0"/>
              </a:spcAft>
              <a:buNone/>
            </a:pPr>
            <a:r>
              <a:rPr lang="en" sz="2600"/>
              <a:t>       </a:t>
            </a:r>
            <a:r>
              <a:rPr lang="en" sz="2600"/>
              <a:t>Introduction</a:t>
            </a:r>
            <a:endParaRPr sz="2600"/>
          </a:p>
          <a:p>
            <a:pPr indent="457200" lvl="0" marL="1371600" rtl="0" algn="l">
              <a:spcBef>
                <a:spcPts val="0"/>
              </a:spcBef>
              <a:spcAft>
                <a:spcPts val="0"/>
              </a:spcAft>
              <a:buNone/>
            </a:pPr>
            <a:r>
              <a:t/>
            </a:r>
            <a:endParaRPr sz="2600"/>
          </a:p>
          <a:p>
            <a:pPr indent="0" lvl="0" marL="0" rtl="0" algn="l">
              <a:spcBef>
                <a:spcPts val="0"/>
              </a:spcBef>
              <a:spcAft>
                <a:spcPts val="0"/>
              </a:spcAft>
              <a:buNone/>
            </a:pPr>
            <a:r>
              <a:rPr lang="en"/>
              <a:t>The goal of this project is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Provide a google form to the </a:t>
            </a:r>
            <a:r>
              <a:rPr lang="en"/>
              <a:t>customer</a:t>
            </a:r>
            <a:r>
              <a:rPr lang="en"/>
              <a:t> to get feedback </a:t>
            </a:r>
            <a:endParaRPr/>
          </a:p>
          <a:p>
            <a:pPr indent="-317500" lvl="0" marL="457200" rtl="0" algn="l">
              <a:spcBef>
                <a:spcPts val="0"/>
              </a:spcBef>
              <a:spcAft>
                <a:spcPts val="0"/>
              </a:spcAft>
              <a:buSzPts val="1400"/>
              <a:buChar char="●"/>
            </a:pPr>
            <a:r>
              <a:rPr lang="en"/>
              <a:t>2 questions are asked</a:t>
            </a:r>
            <a:endParaRPr/>
          </a:p>
          <a:p>
            <a:pPr indent="-317500" lvl="0" marL="457200" rtl="0" algn="l">
              <a:spcBef>
                <a:spcPts val="0"/>
              </a:spcBef>
              <a:spcAft>
                <a:spcPts val="0"/>
              </a:spcAft>
              <a:buSzPts val="1400"/>
              <a:buChar char="●"/>
            </a:pPr>
            <a:r>
              <a:rPr lang="en"/>
              <a:t>The answers are given to G</a:t>
            </a:r>
            <a:r>
              <a:rPr lang="en"/>
              <a:t>oogle Gemini AI module that uses AI to get the Sentiment of the customer and also make a Summary of the customer feedback</a:t>
            </a:r>
            <a:endParaRPr/>
          </a:p>
          <a:p>
            <a:pPr indent="-317500" lvl="0" marL="457200" rtl="0" algn="l">
              <a:spcBef>
                <a:spcPts val="0"/>
              </a:spcBef>
              <a:spcAft>
                <a:spcPts val="0"/>
              </a:spcAft>
              <a:buSzPts val="1400"/>
              <a:buChar char="●"/>
            </a:pPr>
            <a:r>
              <a:rPr lang="en"/>
              <a:t>The Sentiment and Summary are converted to a JSON format.</a:t>
            </a:r>
            <a:endParaRPr/>
          </a:p>
          <a:p>
            <a:pPr indent="-317500" lvl="0" marL="457200" rtl="0" algn="l">
              <a:spcBef>
                <a:spcPts val="0"/>
              </a:spcBef>
              <a:spcAft>
                <a:spcPts val="0"/>
              </a:spcAft>
              <a:buSzPts val="1400"/>
              <a:buChar char="●"/>
            </a:pPr>
            <a:r>
              <a:rPr lang="en"/>
              <a:t>The JSON format is fed to the google sheet(that stores the customer feedback) in 2 added columns of “Sentiment” and “Summary”</a:t>
            </a:r>
            <a:r>
              <a:rPr lang="en"/>
              <a:t> </a:t>
            </a:r>
            <a:endParaRPr/>
          </a:p>
          <a:p>
            <a:pPr indent="-317500" lvl="0" marL="457200" rtl="0" algn="l">
              <a:spcBef>
                <a:spcPts val="0"/>
              </a:spcBef>
              <a:spcAft>
                <a:spcPts val="0"/>
              </a:spcAft>
              <a:buSzPts val="1400"/>
              <a:buChar char="●"/>
            </a:pPr>
            <a:r>
              <a:rPr lang="en"/>
              <a:t>If the customer feedback is negative, a mail is sent to the admin </a:t>
            </a:r>
            <a:r>
              <a:rPr lang="en"/>
              <a:t>informing</a:t>
            </a:r>
            <a:r>
              <a:rPr lang="en"/>
              <a:t> the admin about the negative feedback.</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3" name="Shape 93"/>
        <p:cNvGrpSpPr/>
        <p:nvPr/>
      </p:nvGrpSpPr>
      <p:grpSpPr>
        <a:xfrm>
          <a:off x="0" y="0"/>
          <a:ext cx="0" cy="0"/>
          <a:chOff x="0" y="0"/>
          <a:chExt cx="0" cy="0"/>
        </a:xfrm>
      </p:grpSpPr>
      <p:sp>
        <p:nvSpPr>
          <p:cNvPr id="94" name="Google Shape;94;p30"/>
          <p:cNvSpPr txBox="1"/>
          <p:nvPr>
            <p:ph type="ctrTitle"/>
          </p:nvPr>
        </p:nvSpPr>
        <p:spPr>
          <a:xfrm>
            <a:off x="96875" y="424975"/>
            <a:ext cx="852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1A1A1A"/>
                </a:solidFill>
                <a:latin typeface="Inter ExtraBold"/>
                <a:ea typeface="Inter ExtraBold"/>
                <a:cs typeface="Inter ExtraBold"/>
                <a:sym typeface="Inter ExtraBold"/>
              </a:rPr>
              <a:t>Customer Feedback Workflow diagram</a:t>
            </a:r>
            <a:endParaRPr sz="2400">
              <a:solidFill>
                <a:srgbClr val="1A1A1A"/>
              </a:solidFill>
              <a:latin typeface="Inter ExtraBold"/>
              <a:ea typeface="Inter ExtraBold"/>
              <a:cs typeface="Inter ExtraBold"/>
              <a:sym typeface="Inter ExtraBold"/>
            </a:endParaRPr>
          </a:p>
        </p:txBody>
      </p:sp>
      <p:pic>
        <p:nvPicPr>
          <p:cNvPr id="95" name="Google Shape;95;p30" title="Customer_Feedback.png"/>
          <p:cNvPicPr preferRelativeResize="0"/>
          <p:nvPr/>
        </p:nvPicPr>
        <p:blipFill>
          <a:blip r:embed="rId3">
            <a:alphaModFix/>
          </a:blip>
          <a:stretch>
            <a:fillRect/>
          </a:stretch>
        </p:blipFill>
        <p:spPr>
          <a:xfrm>
            <a:off x="152400" y="1185550"/>
            <a:ext cx="7854675" cy="3805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99" name="Shape 99"/>
        <p:cNvGrpSpPr/>
        <p:nvPr/>
      </p:nvGrpSpPr>
      <p:grpSpPr>
        <a:xfrm>
          <a:off x="0" y="0"/>
          <a:ext cx="0" cy="0"/>
          <a:chOff x="0" y="0"/>
          <a:chExt cx="0" cy="0"/>
        </a:xfrm>
      </p:grpSpPr>
      <p:sp>
        <p:nvSpPr>
          <p:cNvPr id="100" name="Google Shape;100;p31"/>
          <p:cNvSpPr txBox="1"/>
          <p:nvPr>
            <p:ph type="ctrTitle"/>
          </p:nvPr>
        </p:nvSpPr>
        <p:spPr>
          <a:xfrm>
            <a:off x="96875" y="283725"/>
            <a:ext cx="852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1A1A1A"/>
                </a:solidFill>
                <a:latin typeface="Inter ExtraBold"/>
                <a:ea typeface="Inter ExtraBold"/>
                <a:cs typeface="Inter ExtraBold"/>
                <a:sym typeface="Inter ExtraBold"/>
              </a:rPr>
              <a:t>Customer Feedback Workflow in action</a:t>
            </a:r>
            <a:endParaRPr sz="2400">
              <a:solidFill>
                <a:srgbClr val="1A1A1A"/>
              </a:solidFill>
              <a:latin typeface="Inter ExtraBold"/>
              <a:ea typeface="Inter ExtraBold"/>
              <a:cs typeface="Inter ExtraBold"/>
              <a:sym typeface="Inter ExtraBold"/>
            </a:endParaRPr>
          </a:p>
        </p:txBody>
      </p:sp>
      <p:sp>
        <p:nvSpPr>
          <p:cNvPr id="101" name="Google Shape;101;p31"/>
          <p:cNvSpPr/>
          <p:nvPr/>
        </p:nvSpPr>
        <p:spPr>
          <a:xfrm>
            <a:off x="228600" y="1225375"/>
            <a:ext cx="8686800" cy="3689400"/>
          </a:xfrm>
          <a:prstGeom prst="roundRect">
            <a:avLst>
              <a:gd fmla="val 5630" name="adj"/>
            </a:avLst>
          </a:prstGeom>
          <a:solidFill>
            <a:schemeClr val="lt1"/>
          </a:solidFill>
          <a:ln>
            <a:noFill/>
          </a:ln>
        </p:spPr>
        <p:txBody>
          <a:bodyPr anchorCtr="0" anchor="t" bIns="0" lIns="91425" spcFirstLastPara="1" rIns="91425" wrap="square" tIns="91425">
            <a:noAutofit/>
          </a:bodyPr>
          <a:lstStyle/>
          <a:p>
            <a:pPr indent="0" lvl="0" marL="0" rtl="0" algn="l">
              <a:lnSpc>
                <a:spcPct val="115000"/>
              </a:lnSpc>
              <a:spcBef>
                <a:spcPts val="0"/>
              </a:spcBef>
              <a:spcAft>
                <a:spcPts val="1200"/>
              </a:spcAft>
              <a:buNone/>
            </a:pPr>
            <a:r>
              <a:t/>
            </a:r>
            <a:endParaRPr sz="2000">
              <a:solidFill>
                <a:schemeClr val="dk1"/>
              </a:solidFill>
              <a:latin typeface="Inter"/>
              <a:ea typeface="Inter"/>
              <a:cs typeface="Inter"/>
              <a:sym typeface="Inter"/>
            </a:endParaRPr>
          </a:p>
        </p:txBody>
      </p:sp>
      <p:sp>
        <p:nvSpPr>
          <p:cNvPr id="102" name="Google Shape;102;p31"/>
          <p:cNvSpPr txBox="1"/>
          <p:nvPr/>
        </p:nvSpPr>
        <p:spPr>
          <a:xfrm>
            <a:off x="247175" y="1331300"/>
            <a:ext cx="8520600" cy="347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highlight>
                  <a:schemeClr val="lt1"/>
                </a:highlight>
              </a:rPr>
              <a:t>The </a:t>
            </a:r>
            <a:r>
              <a:rPr lang="en">
                <a:solidFill>
                  <a:schemeClr val="dk1"/>
                </a:solidFill>
                <a:highlight>
                  <a:schemeClr val="lt1"/>
                </a:highlight>
              </a:rPr>
              <a:t>google</a:t>
            </a:r>
            <a:r>
              <a:rPr lang="en">
                <a:solidFill>
                  <a:schemeClr val="dk1"/>
                </a:solidFill>
                <a:highlight>
                  <a:schemeClr val="lt1"/>
                </a:highlight>
              </a:rPr>
              <a:t> form used to </a:t>
            </a:r>
            <a:r>
              <a:rPr lang="en">
                <a:solidFill>
                  <a:schemeClr val="dk1"/>
                </a:solidFill>
                <a:highlight>
                  <a:schemeClr val="lt1"/>
                </a:highlight>
              </a:rPr>
              <a:t>take</a:t>
            </a:r>
            <a:r>
              <a:rPr lang="en">
                <a:solidFill>
                  <a:schemeClr val="dk1"/>
                </a:solidFill>
                <a:highlight>
                  <a:schemeClr val="lt1"/>
                </a:highlight>
              </a:rPr>
              <a:t> the Customer input is here: </a:t>
            </a:r>
            <a:endParaRPr>
              <a:solidFill>
                <a:schemeClr val="dk1"/>
              </a:solidFill>
              <a:highlight>
                <a:schemeClr val="lt1"/>
              </a:highlight>
            </a:endParaRPr>
          </a:p>
          <a:p>
            <a:pPr indent="0" lvl="0" marL="0" rtl="0" algn="l">
              <a:spcBef>
                <a:spcPts val="0"/>
              </a:spcBef>
              <a:spcAft>
                <a:spcPts val="0"/>
              </a:spcAft>
              <a:buNone/>
            </a:pPr>
            <a:r>
              <a:rPr lang="en" u="sng">
                <a:solidFill>
                  <a:schemeClr val="hlink"/>
                </a:solidFill>
                <a:highlight>
                  <a:schemeClr val="lt1"/>
                </a:highlight>
                <a:hlinkClick r:id="rId3"/>
              </a:rPr>
              <a:t>https://docs.google.com/forms/d/e/1FAIpQLScg7Oh5g_V_0u4EFi2SppjfG83hrgBw-gNWdmC1cAe-4re6Eg/viewform</a:t>
            </a:r>
            <a:endParaRPr>
              <a:solidFill>
                <a:schemeClr val="dk1"/>
              </a:solidFill>
              <a:highlight>
                <a:schemeClr val="lt1"/>
              </a:highlight>
            </a:endParaRPr>
          </a:p>
          <a:p>
            <a:pPr indent="0" lvl="0" marL="0" rtl="0" algn="l">
              <a:spcBef>
                <a:spcPts val="0"/>
              </a:spcBef>
              <a:spcAft>
                <a:spcPts val="0"/>
              </a:spcAft>
              <a:buNone/>
            </a:pPr>
            <a:r>
              <a:t/>
            </a:r>
            <a:endParaRPr>
              <a:solidFill>
                <a:schemeClr val="dk1"/>
              </a:solidFill>
              <a:highlight>
                <a:schemeClr val="lt1"/>
              </a:highlight>
            </a:endParaRPr>
          </a:p>
          <a:p>
            <a:pPr indent="0" lvl="0" marL="0" rtl="0" algn="l">
              <a:spcBef>
                <a:spcPts val="0"/>
              </a:spcBef>
              <a:spcAft>
                <a:spcPts val="0"/>
              </a:spcAft>
              <a:buNone/>
            </a:pPr>
            <a:r>
              <a:rPr lang="en">
                <a:solidFill>
                  <a:schemeClr val="dk1"/>
                </a:solidFill>
                <a:highlight>
                  <a:schemeClr val="lt1"/>
                </a:highlight>
              </a:rPr>
              <a:t>The Make scenario that runs the feedback logic is here: </a:t>
            </a:r>
            <a:r>
              <a:rPr lang="en" u="sng">
                <a:solidFill>
                  <a:schemeClr val="hlink"/>
                </a:solidFill>
                <a:highlight>
                  <a:schemeClr val="lt1"/>
                </a:highlight>
                <a:hlinkClick r:id="rId4"/>
              </a:rPr>
              <a:t>https://us2.make.com/public/shared-scenario/dOc5dc0HQW0/automation-feedback-customer</a:t>
            </a:r>
            <a:endParaRPr>
              <a:solidFill>
                <a:schemeClr val="dk1"/>
              </a:solidFill>
              <a:highlight>
                <a:schemeClr val="lt1"/>
              </a:highlight>
            </a:endParaRPr>
          </a:p>
          <a:p>
            <a:pPr indent="0" lvl="0" marL="0" rtl="0" algn="l">
              <a:spcBef>
                <a:spcPts val="0"/>
              </a:spcBef>
              <a:spcAft>
                <a:spcPts val="0"/>
              </a:spcAft>
              <a:buNone/>
            </a:pPr>
            <a:r>
              <a:t/>
            </a:r>
            <a:endParaRPr>
              <a:solidFill>
                <a:schemeClr val="dk1"/>
              </a:solidFill>
              <a:highlight>
                <a:schemeClr val="lt1"/>
              </a:highlight>
            </a:endParaRPr>
          </a:p>
          <a:p>
            <a:pPr indent="0" lvl="0" marL="0" rtl="0" algn="l">
              <a:spcBef>
                <a:spcPts val="0"/>
              </a:spcBef>
              <a:spcAft>
                <a:spcPts val="0"/>
              </a:spcAft>
              <a:buNone/>
            </a:pPr>
            <a:r>
              <a:rPr lang="en">
                <a:solidFill>
                  <a:schemeClr val="dk1"/>
                </a:solidFill>
                <a:highlight>
                  <a:schemeClr val="lt1"/>
                </a:highlight>
              </a:rPr>
              <a:t>The JSON blueprint of the Make scenario is here:</a:t>
            </a:r>
            <a:endParaRPr>
              <a:solidFill>
                <a:schemeClr val="dk1"/>
              </a:solidFill>
              <a:highlight>
                <a:schemeClr val="lt1"/>
              </a:highlight>
            </a:endParaRPr>
          </a:p>
          <a:p>
            <a:pPr indent="0" lvl="0" marL="0" rtl="0" algn="l">
              <a:spcBef>
                <a:spcPts val="0"/>
              </a:spcBef>
              <a:spcAft>
                <a:spcPts val="0"/>
              </a:spcAft>
              <a:buNone/>
            </a:pPr>
            <a:r>
              <a:rPr lang="en" u="sng">
                <a:solidFill>
                  <a:schemeClr val="hlink"/>
                </a:solidFill>
                <a:highlight>
                  <a:schemeClr val="lt1"/>
                </a:highlight>
                <a:hlinkClick r:id="rId5"/>
              </a:rPr>
              <a:t>https://drive.google.com/file/d/18hMKlGHmDA8SzSAc62l7f3zBKbeC70yQ/view?usp=sharing</a:t>
            </a:r>
            <a:endParaRPr>
              <a:solidFill>
                <a:schemeClr val="dk1"/>
              </a:solidFill>
              <a:highlight>
                <a:schemeClr val="lt1"/>
              </a:highlight>
            </a:endParaRPr>
          </a:p>
          <a:p>
            <a:pPr indent="0" lvl="0" marL="0" rtl="0" algn="l">
              <a:spcBef>
                <a:spcPts val="0"/>
              </a:spcBef>
              <a:spcAft>
                <a:spcPts val="0"/>
              </a:spcAft>
              <a:buNone/>
            </a:pPr>
            <a:r>
              <a:t/>
            </a:r>
            <a:endParaRPr>
              <a:solidFill>
                <a:schemeClr val="dk1"/>
              </a:solidFill>
              <a:highlight>
                <a:schemeClr val="lt1"/>
              </a:highlight>
            </a:endParaRPr>
          </a:p>
          <a:p>
            <a:pPr indent="0" lvl="0" marL="0" rtl="0" algn="l">
              <a:spcBef>
                <a:spcPts val="0"/>
              </a:spcBef>
              <a:spcAft>
                <a:spcPts val="0"/>
              </a:spcAft>
              <a:buNone/>
            </a:pPr>
            <a:r>
              <a:rPr lang="en">
                <a:solidFill>
                  <a:schemeClr val="dk1"/>
                </a:solidFill>
                <a:highlight>
                  <a:schemeClr val="lt1"/>
                </a:highlight>
              </a:rPr>
              <a:t>The </a:t>
            </a:r>
            <a:r>
              <a:rPr lang="en">
                <a:solidFill>
                  <a:schemeClr val="dk1"/>
                </a:solidFill>
                <a:highlight>
                  <a:schemeClr val="lt1"/>
                </a:highlight>
              </a:rPr>
              <a:t>google</a:t>
            </a:r>
            <a:r>
              <a:rPr lang="en">
                <a:solidFill>
                  <a:schemeClr val="dk1"/>
                </a:solidFill>
                <a:highlight>
                  <a:schemeClr val="lt1"/>
                </a:highlight>
              </a:rPr>
              <a:t> sheet with the test data is here: </a:t>
            </a:r>
            <a:endParaRPr>
              <a:solidFill>
                <a:schemeClr val="dk1"/>
              </a:solidFill>
              <a:highlight>
                <a:schemeClr val="lt1"/>
              </a:highlight>
            </a:endParaRPr>
          </a:p>
          <a:p>
            <a:pPr indent="0" lvl="0" marL="0" rtl="0" algn="l">
              <a:spcBef>
                <a:spcPts val="0"/>
              </a:spcBef>
              <a:spcAft>
                <a:spcPts val="0"/>
              </a:spcAft>
              <a:buNone/>
            </a:pPr>
            <a:r>
              <a:rPr lang="en" u="sng">
                <a:solidFill>
                  <a:schemeClr val="hlink"/>
                </a:solidFill>
                <a:highlight>
                  <a:schemeClr val="lt1"/>
                </a:highlight>
                <a:hlinkClick r:id="rId6"/>
              </a:rPr>
              <a:t>https://docs.google.com/spreadsheets/d/1-Gk9DpBHr8CDscm9T4DnkPqVu42G95c22qVqHnaXlTU/edit?usp=sharing</a:t>
            </a:r>
            <a:endParaRPr>
              <a:solidFill>
                <a:schemeClr val="dk1"/>
              </a:solidFill>
              <a:highlight>
                <a:schemeClr val="lt1"/>
              </a:highlight>
            </a:endParaRPr>
          </a:p>
          <a:p>
            <a:pPr indent="0" lvl="0" marL="0" rtl="0" algn="l">
              <a:spcBef>
                <a:spcPts val="0"/>
              </a:spcBef>
              <a:spcAft>
                <a:spcPts val="0"/>
              </a:spcAft>
              <a:buNone/>
            </a:pPr>
            <a:r>
              <a:t/>
            </a:r>
            <a:endParaRPr>
              <a:solidFill>
                <a:schemeClr val="dk1"/>
              </a:solidFill>
              <a:highlight>
                <a:schemeClr val="lt1"/>
              </a:highlight>
            </a:endParaRPr>
          </a:p>
          <a:p>
            <a:pPr indent="0" lvl="0" marL="0" rtl="0" algn="l">
              <a:spcBef>
                <a:spcPts val="0"/>
              </a:spcBef>
              <a:spcAft>
                <a:spcPts val="0"/>
              </a:spcAft>
              <a:buNone/>
            </a:pPr>
            <a:r>
              <a:t/>
            </a:r>
            <a:endParaRPr sz="1800">
              <a:solidFill>
                <a:schemeClr val="dk1"/>
              </a:solidFill>
              <a:highlight>
                <a:schemeClr val="lt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2"/>
          <p:cNvSpPr txBox="1"/>
          <p:nvPr/>
        </p:nvSpPr>
        <p:spPr>
          <a:xfrm>
            <a:off x="0" y="0"/>
            <a:ext cx="8973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Snapshot of the Google form: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08" name="Google Shape;108;p32" title="Google_form.png"/>
          <p:cNvPicPr preferRelativeResize="0"/>
          <p:nvPr/>
        </p:nvPicPr>
        <p:blipFill>
          <a:blip r:embed="rId3">
            <a:alphaModFix/>
          </a:blip>
          <a:stretch>
            <a:fillRect/>
          </a:stretch>
        </p:blipFill>
        <p:spPr>
          <a:xfrm>
            <a:off x="152400" y="983700"/>
            <a:ext cx="4436125" cy="40073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3"/>
          <p:cNvSpPr txBox="1"/>
          <p:nvPr/>
        </p:nvSpPr>
        <p:spPr>
          <a:xfrm>
            <a:off x="228000" y="246225"/>
            <a:ext cx="8508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t>             </a:t>
            </a:r>
            <a:r>
              <a:rPr lang="en" sz="2400"/>
              <a:t>Snapshot of the Make scenario</a:t>
            </a:r>
            <a:endParaRPr sz="2400"/>
          </a:p>
          <a:p>
            <a:pPr indent="0" lvl="0" marL="0" rtl="0" algn="l">
              <a:spcBef>
                <a:spcPts val="0"/>
              </a:spcBef>
              <a:spcAft>
                <a:spcPts val="0"/>
              </a:spcAft>
              <a:buNone/>
            </a:pPr>
            <a:r>
              <a:t/>
            </a:r>
            <a:endParaRPr/>
          </a:p>
        </p:txBody>
      </p:sp>
      <p:pic>
        <p:nvPicPr>
          <p:cNvPr id="114" name="Google Shape;114;p33" title="Make_scenario.png"/>
          <p:cNvPicPr preferRelativeResize="0"/>
          <p:nvPr/>
        </p:nvPicPr>
        <p:blipFill>
          <a:blip r:embed="rId3">
            <a:alphaModFix/>
          </a:blip>
          <a:stretch>
            <a:fillRect/>
          </a:stretch>
        </p:blipFill>
        <p:spPr>
          <a:xfrm>
            <a:off x="152400" y="1014225"/>
            <a:ext cx="6781548" cy="39768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4"/>
          <p:cNvSpPr txBox="1"/>
          <p:nvPr/>
        </p:nvSpPr>
        <p:spPr>
          <a:xfrm>
            <a:off x="766050" y="355675"/>
            <a:ext cx="67761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t>Snapshot of the </a:t>
            </a:r>
            <a:r>
              <a:rPr lang="en" sz="2400"/>
              <a:t>google</a:t>
            </a:r>
            <a:r>
              <a:rPr lang="en" sz="2400"/>
              <a:t> sheet with the Test Data</a:t>
            </a:r>
            <a:endParaRPr sz="2400"/>
          </a:p>
          <a:p>
            <a:pPr indent="0" lvl="0" marL="0" rtl="0" algn="l">
              <a:spcBef>
                <a:spcPts val="0"/>
              </a:spcBef>
              <a:spcAft>
                <a:spcPts val="0"/>
              </a:spcAft>
              <a:buNone/>
            </a:pPr>
            <a:r>
              <a:t/>
            </a:r>
            <a:endParaRPr/>
          </a:p>
          <a:p>
            <a:pPr indent="0" lvl="0" marL="0" rtl="0" algn="l">
              <a:spcBef>
                <a:spcPts val="0"/>
              </a:spcBef>
              <a:spcAft>
                <a:spcPts val="0"/>
              </a:spcAft>
              <a:buNone/>
            </a:pPr>
            <a:r>
              <a:rPr lang="en"/>
              <a:t>The snapshot of the </a:t>
            </a:r>
            <a:r>
              <a:rPr lang="en"/>
              <a:t>google</a:t>
            </a:r>
            <a:r>
              <a:rPr lang="en"/>
              <a:t> sheet with added “Sentiment” and “Summary” columns  is below:</a:t>
            </a:r>
            <a:endParaRPr/>
          </a:p>
          <a:p>
            <a:pPr indent="0" lvl="0" marL="0" rtl="0" algn="l">
              <a:spcBef>
                <a:spcPts val="0"/>
              </a:spcBef>
              <a:spcAft>
                <a:spcPts val="0"/>
              </a:spcAft>
              <a:buNone/>
            </a:pPr>
            <a:r>
              <a:t/>
            </a:r>
            <a:endParaRPr/>
          </a:p>
        </p:txBody>
      </p:sp>
      <p:pic>
        <p:nvPicPr>
          <p:cNvPr id="120" name="Google Shape;120;p34" title="Google Sheet.png"/>
          <p:cNvPicPr preferRelativeResize="0"/>
          <p:nvPr/>
        </p:nvPicPr>
        <p:blipFill>
          <a:blip r:embed="rId3">
            <a:alphaModFix/>
          </a:blip>
          <a:stretch>
            <a:fillRect/>
          </a:stretch>
        </p:blipFill>
        <p:spPr>
          <a:xfrm>
            <a:off x="316575" y="1717800"/>
            <a:ext cx="4523827" cy="3282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5"/>
          <p:cNvSpPr txBox="1"/>
          <p:nvPr/>
        </p:nvSpPr>
        <p:spPr>
          <a:xfrm>
            <a:off x="63850" y="410375"/>
            <a:ext cx="7250100" cy="243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t>                      </a:t>
            </a:r>
            <a:r>
              <a:rPr lang="en" sz="2400"/>
              <a:t>Important Make Modules</a:t>
            </a:r>
            <a:endParaRPr sz="2400"/>
          </a:p>
          <a:p>
            <a:pPr indent="0" lvl="0" marL="0" rtl="0" algn="l">
              <a:spcBef>
                <a:spcPts val="0"/>
              </a:spcBef>
              <a:spcAft>
                <a:spcPts val="0"/>
              </a:spcAft>
              <a:buNone/>
            </a:pPr>
            <a:r>
              <a:rPr lang="en"/>
              <a:t>The Google Gemini AI module is </a:t>
            </a:r>
            <a:r>
              <a:rPr lang="en"/>
              <a:t>important</a:t>
            </a:r>
            <a:r>
              <a:rPr lang="en"/>
              <a:t> </a:t>
            </a:r>
            <a:r>
              <a:rPr lang="en"/>
              <a:t>because</a:t>
            </a:r>
            <a:r>
              <a:rPr lang="en"/>
              <a:t> it uses AI to determine the Customer’s Sentiment and Summary. It also uses the “Advanced Setting”  of “Response Format” as JSON, without which the JSON parsing module will fail. A snapshot of the module is below:</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sz="2400"/>
          </a:p>
        </p:txBody>
      </p:sp>
      <p:pic>
        <p:nvPicPr>
          <p:cNvPr id="126" name="Google Shape;126;p35" title="Gemini_AI_Module.png"/>
          <p:cNvPicPr preferRelativeResize="0"/>
          <p:nvPr/>
        </p:nvPicPr>
        <p:blipFill>
          <a:blip r:embed="rId3">
            <a:alphaModFix/>
          </a:blip>
          <a:stretch>
            <a:fillRect/>
          </a:stretch>
        </p:blipFill>
        <p:spPr>
          <a:xfrm>
            <a:off x="954925" y="1800175"/>
            <a:ext cx="3702496" cy="31153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6"/>
          <p:cNvSpPr txBox="1"/>
          <p:nvPr/>
        </p:nvSpPr>
        <p:spPr>
          <a:xfrm>
            <a:off x="310075" y="437750"/>
            <a:ext cx="8545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other </a:t>
            </a:r>
            <a:r>
              <a:rPr lang="en"/>
              <a:t>important</a:t>
            </a:r>
            <a:r>
              <a:rPr lang="en"/>
              <a:t> Module is the JSON parsing module. </a:t>
            </a:r>
            <a:endParaRPr/>
          </a:p>
          <a:p>
            <a:pPr indent="0" lvl="0" marL="0" rtl="0" algn="l">
              <a:spcBef>
                <a:spcPts val="0"/>
              </a:spcBef>
              <a:spcAft>
                <a:spcPts val="0"/>
              </a:spcAft>
              <a:buNone/>
            </a:pPr>
            <a:r>
              <a:rPr lang="en"/>
              <a:t>It takes the input from Google AI Gemini module and parses the input into JSON which is used to update the Customer Feedback G</a:t>
            </a:r>
            <a:r>
              <a:rPr lang="en"/>
              <a:t>oogle</a:t>
            </a:r>
            <a:r>
              <a:rPr lang="en"/>
              <a:t> sheet. A snapshot of the JSON module is below:</a:t>
            </a:r>
            <a:endParaRPr/>
          </a:p>
          <a:p>
            <a:pPr indent="0" lvl="0" marL="0" rtl="0" algn="l">
              <a:spcBef>
                <a:spcPts val="0"/>
              </a:spcBef>
              <a:spcAft>
                <a:spcPts val="0"/>
              </a:spcAft>
              <a:buNone/>
            </a:pPr>
            <a:r>
              <a:rPr lang="en"/>
              <a:t> </a:t>
            </a:r>
            <a:endParaRPr/>
          </a:p>
        </p:txBody>
      </p:sp>
      <p:pic>
        <p:nvPicPr>
          <p:cNvPr id="132" name="Google Shape;132;p36" title="JSON parsing.png"/>
          <p:cNvPicPr preferRelativeResize="0"/>
          <p:nvPr/>
        </p:nvPicPr>
        <p:blipFill>
          <a:blip r:embed="rId3">
            <a:alphaModFix/>
          </a:blip>
          <a:stretch>
            <a:fillRect/>
          </a:stretch>
        </p:blipFill>
        <p:spPr>
          <a:xfrm>
            <a:off x="152400" y="1636850"/>
            <a:ext cx="5498519" cy="3354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36" name="Shape 136"/>
        <p:cNvGrpSpPr/>
        <p:nvPr/>
      </p:nvGrpSpPr>
      <p:grpSpPr>
        <a:xfrm>
          <a:off x="0" y="0"/>
          <a:ext cx="0" cy="0"/>
          <a:chOff x="0" y="0"/>
          <a:chExt cx="0" cy="0"/>
        </a:xfrm>
      </p:grpSpPr>
      <p:sp>
        <p:nvSpPr>
          <p:cNvPr id="137" name="Google Shape;137;p37"/>
          <p:cNvSpPr txBox="1"/>
          <p:nvPr>
            <p:ph type="ctrTitle"/>
          </p:nvPr>
        </p:nvSpPr>
        <p:spPr>
          <a:xfrm>
            <a:off x="247175" y="424975"/>
            <a:ext cx="8520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1A1A1A"/>
                </a:solidFill>
                <a:latin typeface="Inter ExtraBold"/>
                <a:ea typeface="Inter ExtraBold"/>
                <a:cs typeface="Inter ExtraBold"/>
                <a:sym typeface="Inter ExtraBold"/>
              </a:rPr>
              <a:t>Email alert for Negative Sentiment</a:t>
            </a:r>
            <a:endParaRPr sz="2400">
              <a:solidFill>
                <a:srgbClr val="1A1A1A"/>
              </a:solidFill>
              <a:latin typeface="Inter ExtraBold"/>
              <a:ea typeface="Inter ExtraBold"/>
              <a:cs typeface="Inter ExtraBold"/>
              <a:sym typeface="Inter ExtraBold"/>
            </a:endParaRPr>
          </a:p>
          <a:p>
            <a:pPr indent="0" lvl="0" marL="0" rtl="0" algn="l">
              <a:spcBef>
                <a:spcPts val="0"/>
              </a:spcBef>
              <a:spcAft>
                <a:spcPts val="0"/>
              </a:spcAft>
              <a:buNone/>
            </a:pPr>
            <a:r>
              <a:t/>
            </a:r>
            <a:endParaRPr sz="2400">
              <a:solidFill>
                <a:srgbClr val="1A1A1A"/>
              </a:solidFill>
              <a:latin typeface="Inter ExtraBold"/>
              <a:ea typeface="Inter ExtraBold"/>
              <a:cs typeface="Inter ExtraBold"/>
              <a:sym typeface="Inter ExtraBold"/>
            </a:endParaRPr>
          </a:p>
          <a:p>
            <a:pPr indent="0" lvl="0" marL="0" rtl="0" algn="l">
              <a:spcBef>
                <a:spcPts val="0"/>
              </a:spcBef>
              <a:spcAft>
                <a:spcPts val="0"/>
              </a:spcAft>
              <a:buNone/>
            </a:pPr>
            <a:r>
              <a:rPr lang="en">
                <a:solidFill>
                  <a:srgbClr val="1A1A1A"/>
                </a:solidFill>
                <a:latin typeface="Inter"/>
                <a:ea typeface="Inter"/>
                <a:cs typeface="Inter"/>
                <a:sym typeface="Inter"/>
              </a:rPr>
              <a:t>An </a:t>
            </a:r>
            <a:r>
              <a:rPr lang="en">
                <a:solidFill>
                  <a:srgbClr val="1A1A1A"/>
                </a:solidFill>
                <a:latin typeface="Inter"/>
                <a:ea typeface="Inter"/>
                <a:cs typeface="Inter"/>
                <a:sym typeface="Inter"/>
              </a:rPr>
              <a:t>email</a:t>
            </a:r>
            <a:r>
              <a:rPr lang="en">
                <a:solidFill>
                  <a:srgbClr val="1A1A1A"/>
                </a:solidFill>
                <a:latin typeface="Inter"/>
                <a:ea typeface="Inter"/>
                <a:cs typeface="Inter"/>
                <a:sym typeface="Inter"/>
              </a:rPr>
              <a:t> alert is sent out if the Customer’s sentiment is negative.</a:t>
            </a:r>
            <a:endParaRPr>
              <a:solidFill>
                <a:srgbClr val="1A1A1A"/>
              </a:solidFill>
              <a:latin typeface="Inter"/>
              <a:ea typeface="Inter"/>
              <a:cs typeface="Inter"/>
              <a:sym typeface="Inter"/>
            </a:endParaRPr>
          </a:p>
          <a:p>
            <a:pPr indent="0" lvl="0" marL="0" rtl="0" algn="l">
              <a:spcBef>
                <a:spcPts val="0"/>
              </a:spcBef>
              <a:spcAft>
                <a:spcPts val="0"/>
              </a:spcAft>
              <a:buNone/>
            </a:pPr>
            <a:r>
              <a:rPr lang="en">
                <a:solidFill>
                  <a:srgbClr val="1A1A1A"/>
                </a:solidFill>
                <a:latin typeface="Inter"/>
                <a:ea typeface="Inter"/>
                <a:cs typeface="Inter"/>
                <a:sym typeface="Inter"/>
              </a:rPr>
              <a:t>The snapshot of the optional email alert is below:</a:t>
            </a:r>
            <a:endParaRPr>
              <a:solidFill>
                <a:srgbClr val="1A1A1A"/>
              </a:solidFill>
              <a:latin typeface="Inter"/>
              <a:ea typeface="Inter"/>
              <a:cs typeface="Inter"/>
              <a:sym typeface="Inter"/>
            </a:endParaRPr>
          </a:p>
          <a:p>
            <a:pPr indent="0" lvl="0" marL="0" rtl="0" algn="l">
              <a:spcBef>
                <a:spcPts val="0"/>
              </a:spcBef>
              <a:spcAft>
                <a:spcPts val="0"/>
              </a:spcAft>
              <a:buNone/>
            </a:pPr>
            <a:r>
              <a:t/>
            </a:r>
            <a:endParaRPr>
              <a:solidFill>
                <a:srgbClr val="1A1A1A"/>
              </a:solidFill>
              <a:latin typeface="Inter"/>
              <a:ea typeface="Inter"/>
              <a:cs typeface="Inter"/>
              <a:sym typeface="Inter"/>
            </a:endParaRPr>
          </a:p>
        </p:txBody>
      </p:sp>
      <p:pic>
        <p:nvPicPr>
          <p:cNvPr id="138" name="Google Shape;138;p37" title="Email_alert.png"/>
          <p:cNvPicPr preferRelativeResize="0"/>
          <p:nvPr/>
        </p:nvPicPr>
        <p:blipFill>
          <a:blip r:embed="rId3">
            <a:alphaModFix/>
          </a:blip>
          <a:stretch>
            <a:fillRect/>
          </a:stretch>
        </p:blipFill>
        <p:spPr>
          <a:xfrm>
            <a:off x="152400" y="2147275"/>
            <a:ext cx="3012125" cy="28438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8"/>
          <p:cNvSpPr txBox="1"/>
          <p:nvPr/>
        </p:nvSpPr>
        <p:spPr>
          <a:xfrm>
            <a:off x="300950" y="419500"/>
            <a:ext cx="8590800" cy="437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t>              Challenges and Improvements</a:t>
            </a:r>
            <a:endParaRPr sz="2400"/>
          </a:p>
          <a:p>
            <a:pPr indent="0" lvl="0" marL="0" rtl="0" algn="l">
              <a:spcBef>
                <a:spcPts val="0"/>
              </a:spcBef>
              <a:spcAft>
                <a:spcPts val="0"/>
              </a:spcAft>
              <a:buNone/>
            </a:pPr>
            <a:r>
              <a:t/>
            </a:r>
            <a:endParaRPr/>
          </a:p>
          <a:p>
            <a:pPr indent="0" lvl="0" marL="0" rtl="0" algn="l">
              <a:spcBef>
                <a:spcPts val="0"/>
              </a:spcBef>
              <a:spcAft>
                <a:spcPts val="0"/>
              </a:spcAft>
              <a:buNone/>
            </a:pPr>
            <a:r>
              <a:rPr lang="en"/>
              <a:t>Challenge: </a:t>
            </a:r>
            <a:endParaRPr/>
          </a:p>
          <a:p>
            <a:pPr indent="0" lvl="0" marL="0" rtl="0" algn="l">
              <a:spcBef>
                <a:spcPts val="0"/>
              </a:spcBef>
              <a:spcAft>
                <a:spcPts val="0"/>
              </a:spcAft>
              <a:buNone/>
            </a:pPr>
            <a:r>
              <a:rPr lang="en"/>
              <a:t>The Make </a:t>
            </a:r>
            <a:r>
              <a:rPr lang="en"/>
              <a:t>scenario</a:t>
            </a:r>
            <a:r>
              <a:rPr lang="en"/>
              <a:t> worked smoothly with the Google Gemini AI.</a:t>
            </a:r>
            <a:endParaRPr/>
          </a:p>
          <a:p>
            <a:pPr indent="0" lvl="0" marL="0" rtl="0" algn="l">
              <a:spcBef>
                <a:spcPts val="0"/>
              </a:spcBef>
              <a:spcAft>
                <a:spcPts val="0"/>
              </a:spcAft>
              <a:buNone/>
            </a:pPr>
            <a:r>
              <a:rPr lang="en"/>
              <a:t>However</a:t>
            </a:r>
            <a:r>
              <a:rPr lang="en"/>
              <a:t>, the JSON parser was throwing an error because the Google Gemini AI module was not giving it pure JSON data. To fix this I </a:t>
            </a:r>
            <a:r>
              <a:rPr lang="en"/>
              <a:t>finally found the “Advanced Setting” of “Response Format” that sets the output data to JSON.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Improvements:</a:t>
            </a:r>
            <a:endParaRPr/>
          </a:p>
          <a:p>
            <a:pPr indent="-317500" lvl="0" marL="457200" rtl="0" algn="l">
              <a:spcBef>
                <a:spcPts val="0"/>
              </a:spcBef>
              <a:spcAft>
                <a:spcPts val="0"/>
              </a:spcAft>
              <a:buSzPts val="1400"/>
              <a:buChar char="●"/>
            </a:pPr>
            <a:r>
              <a:rPr lang="en"/>
              <a:t>The form used for Customer’s response had only 2 questions. A more elaborate form could be used to get more input from the Customer about the product or service</a:t>
            </a:r>
            <a:endParaRPr/>
          </a:p>
          <a:p>
            <a:pPr indent="-317500" lvl="0" marL="457200" rtl="0" algn="l">
              <a:spcBef>
                <a:spcPts val="0"/>
              </a:spcBef>
              <a:spcAft>
                <a:spcPts val="0"/>
              </a:spcAft>
              <a:buSzPts val="1400"/>
              <a:buChar char="●"/>
            </a:pPr>
            <a:r>
              <a:rPr lang="en"/>
              <a:t>The product or service could have been divided into more modules and feedback for those modules could have enhanced the data we were getting</a:t>
            </a:r>
            <a:endParaRPr/>
          </a:p>
          <a:p>
            <a:pPr indent="-317500" lvl="0" marL="457200" rtl="0" algn="l">
              <a:spcBef>
                <a:spcPts val="0"/>
              </a:spcBef>
              <a:spcAft>
                <a:spcPts val="0"/>
              </a:spcAft>
              <a:buSzPts val="1400"/>
              <a:buChar char="●"/>
            </a:pPr>
            <a:r>
              <a:rPr lang="en"/>
              <a:t>The AI logic in the Google Gemini module could have been similarly enhanced to give more feedback about the product or service by analysing the different modules of the product or service. The prompt for the AI module could have been more elaborate</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