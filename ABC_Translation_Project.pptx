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Inter"/>
      <p:regular r:id="rId22"/>
      <p:bold r:id="rId23"/>
      <p:italic r:id="rId24"/>
      <p:boldItalic r:id="rId25"/>
    </p:embeddedFont>
    <p:embeddedFont>
      <p:font typeface="Inter ExtraBold"/>
      <p:bold r:id="rId26"/>
      <p:boldItalic r:id="rId27"/>
    </p:embeddedFont>
    <p:embeddedFont>
      <p:font typeface="Inter Medium"/>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hsp8dgapC3vGxLeeL7f3GPtB3x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nter-regular.fntdata"/><Relationship Id="rId21" Type="http://schemas.openxmlformats.org/officeDocument/2006/relationships/slide" Target="slides/slide16.xml"/><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InterExtraBold-bold.fntdata"/><Relationship Id="rId25" Type="http://schemas.openxmlformats.org/officeDocument/2006/relationships/font" Target="fonts/Inter-boldItalic.fntdata"/><Relationship Id="rId28" Type="http://schemas.openxmlformats.org/officeDocument/2006/relationships/font" Target="fonts/InterMedium-regular.fntdata"/><Relationship Id="rId27" Type="http://schemas.openxmlformats.org/officeDocument/2006/relationships/font" Target="fonts/InterExtraBol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Medium-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Medium-boldItalic.fntdata"/><Relationship Id="rId30" Type="http://schemas.openxmlformats.org/officeDocument/2006/relationships/font" Target="fonts/InterMedium-italic.fntdata"/><Relationship Id="rId11" Type="http://schemas.openxmlformats.org/officeDocument/2006/relationships/slide" Target="slides/slide6.xml"/><Relationship Id="rId10" Type="http://schemas.openxmlformats.org/officeDocument/2006/relationships/slide" Target="slides/slide5.xml"/><Relationship Id="rId32"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4700bee58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3f4700bee58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4700bee58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f4700bee58_2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4700bee58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f4700bee58_2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4700bee58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f4700bee58_2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409ac91f0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409ac91f0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409ac91f0d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409ac91f0d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f4700bee58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3f4700bee58_2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f4700bee58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f4700bee58_2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409ac91f0d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409ac91f0d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409ac91f0d9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409ac91f0d9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409ac91f0d9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409ac91f0d9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409ac91f0d9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409ac91f0d9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409ac91f0d9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409ac91f0d9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4700bee58_2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3f4700bee58_2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f4700bee58_2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g3f4700bee58_2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9" name="Shape 9"/>
        <p:cNvGrpSpPr/>
        <p:nvPr/>
      </p:nvGrpSpPr>
      <p:grpSpPr>
        <a:xfrm>
          <a:off x="0" y="0"/>
          <a:ext cx="0" cy="0"/>
          <a:chOff x="0" y="0"/>
          <a:chExt cx="0" cy="0"/>
        </a:xfrm>
      </p:grpSpPr>
      <p:sp>
        <p:nvSpPr>
          <p:cNvPr id="10" name="Google Shape;1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 name="Google Shape;13;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1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1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2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2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2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2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2" name="Shape 52"/>
        <p:cNvGrpSpPr/>
        <p:nvPr/>
      </p:nvGrpSpPr>
      <p:grpSpPr>
        <a:xfrm>
          <a:off x="0" y="0"/>
          <a:ext cx="0" cy="0"/>
          <a:chOff x="0" y="0"/>
          <a:chExt cx="0" cy="0"/>
        </a:xfrm>
      </p:grpSpPr>
      <p:sp>
        <p:nvSpPr>
          <p:cNvPr id="53" name="Google Shape;5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8" name="Shape 58"/>
        <p:cNvGrpSpPr/>
        <p:nvPr/>
      </p:nvGrpSpPr>
      <p:grpSpPr>
        <a:xfrm>
          <a:off x="0" y="0"/>
          <a:ext cx="0" cy="0"/>
          <a:chOff x="0" y="0"/>
          <a:chExt cx="0" cy="0"/>
        </a:xfrm>
      </p:grpSpPr>
      <p:sp>
        <p:nvSpPr>
          <p:cNvPr id="59" name="Google Shape;5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4 people)" type="secHead">
  <p:cSld name="SECTION_HEADER">
    <p:spTree>
      <p:nvGrpSpPr>
        <p:cNvPr id="60" name="Shape 60"/>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7" name="Shape 67"/>
        <p:cNvGrpSpPr/>
        <p:nvPr/>
      </p:nvGrpSpPr>
      <p:grpSpPr>
        <a:xfrm>
          <a:off x="0" y="0"/>
          <a:ext cx="0" cy="0"/>
          <a:chOff x="0" y="0"/>
          <a:chExt cx="0" cy="0"/>
        </a:xfrm>
      </p:grpSpPr>
      <p:sp>
        <p:nvSpPr>
          <p:cNvPr id="68" name="Google Shape;6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sp>
        <p:nvSpPr>
          <p:cNvPr id="70" name="Google Shape;70;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1" name="Shape 71"/>
        <p:cNvGrpSpPr/>
        <p:nvPr/>
      </p:nvGrpSpPr>
      <p:grpSpPr>
        <a:xfrm>
          <a:off x="0" y="0"/>
          <a:ext cx="0" cy="0"/>
          <a:chOff x="0" y="0"/>
          <a:chExt cx="0" cy="0"/>
        </a:xfrm>
      </p:grpSpPr>
      <p:sp>
        <p:nvSpPr>
          <p:cNvPr id="72" name="Google Shape;72;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5" name="Shape 75"/>
        <p:cNvGrpSpPr/>
        <p:nvPr/>
      </p:nvGrpSpPr>
      <p:grpSpPr>
        <a:xfrm>
          <a:off x="0" y="0"/>
          <a:ext cx="0" cy="0"/>
          <a:chOff x="0" y="0"/>
          <a:chExt cx="0" cy="0"/>
        </a:xfrm>
      </p:grpSpPr>
      <p:sp>
        <p:nvSpPr>
          <p:cNvPr id="76" name="Google Shape;76;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7" name="Shape 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3.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4" name="Shape 54"/>
        <p:cNvGrpSpPr/>
        <p:nvPr/>
      </p:nvGrpSpPr>
      <p:grpSpPr>
        <a:xfrm>
          <a:off x="0" y="0"/>
          <a:ext cx="0" cy="0"/>
          <a:chOff x="0" y="0"/>
          <a:chExt cx="0" cy="0"/>
        </a:xfrm>
      </p:grpSpPr>
      <p:sp>
        <p:nvSpPr>
          <p:cNvPr id="55" name="Google Shape;55;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8F60"/>
        </a:solidFill>
      </p:bgPr>
    </p:bg>
    <p:spTree>
      <p:nvGrpSpPr>
        <p:cNvPr id="81" name="Shape 81"/>
        <p:cNvGrpSpPr/>
        <p:nvPr/>
      </p:nvGrpSpPr>
      <p:grpSpPr>
        <a:xfrm>
          <a:off x="0" y="0"/>
          <a:ext cx="0" cy="0"/>
          <a:chOff x="0" y="0"/>
          <a:chExt cx="0" cy="0"/>
        </a:xfrm>
      </p:grpSpPr>
      <p:sp>
        <p:nvSpPr>
          <p:cNvPr id="82" name="Google Shape;82;p1"/>
          <p:cNvSpPr txBox="1"/>
          <p:nvPr>
            <p:ph idx="4294967295" type="ctrTitle"/>
          </p:nvPr>
        </p:nvSpPr>
        <p:spPr>
          <a:xfrm>
            <a:off x="64008" y="638300"/>
            <a:ext cx="8520600" cy="3742500"/>
          </a:xfrm>
          <a:prstGeom prst="rect">
            <a:avLst/>
          </a:prstGeom>
          <a:noFill/>
          <a:ln>
            <a:noFill/>
          </a:ln>
        </p:spPr>
        <p:txBody>
          <a:bodyPr anchorCtr="0" anchor="t" bIns="91425" lIns="91425" spcFirstLastPara="1" rIns="91425" wrap="square" tIns="0">
            <a:spAutoFit/>
          </a:bodyPr>
          <a:lstStyle/>
          <a:p>
            <a:pPr indent="0" lvl="0" marL="0" marR="0" rtl="0" algn="l">
              <a:lnSpc>
                <a:spcPct val="90000"/>
              </a:lnSpc>
              <a:spcBef>
                <a:spcPts val="0"/>
              </a:spcBef>
              <a:spcAft>
                <a:spcPts val="0"/>
              </a:spcAft>
              <a:buClr>
                <a:schemeClr val="dk1"/>
              </a:buClr>
              <a:buSzPts val="2800"/>
              <a:buFont typeface="Arial"/>
              <a:buNone/>
            </a:pPr>
            <a:r>
              <a:rPr lang="en" sz="5800">
                <a:solidFill>
                  <a:srgbClr val="1A1A1A"/>
                </a:solidFill>
                <a:latin typeface="Inter ExtraBold"/>
                <a:ea typeface="Inter ExtraBold"/>
                <a:cs typeface="Inter ExtraBold"/>
                <a:sym typeface="Inter ExtraBold"/>
              </a:rPr>
              <a:t>AI Assisted </a:t>
            </a:r>
            <a:r>
              <a:rPr b="0" i="0" lang="en" sz="5800" u="none" cap="none" strike="noStrike">
                <a:solidFill>
                  <a:srgbClr val="1A1A1A"/>
                </a:solidFill>
                <a:latin typeface="Inter ExtraBold"/>
                <a:ea typeface="Inter ExtraBold"/>
                <a:cs typeface="Inter ExtraBold"/>
                <a:sym typeface="Inter ExtraBold"/>
              </a:rPr>
              <a:t>Translation of English and Turkish Documents</a:t>
            </a:r>
            <a:endParaRPr b="0" i="0" sz="5800" u="none" cap="none" strike="noStrike">
              <a:solidFill>
                <a:srgbClr val="1A1A1A"/>
              </a:solidFill>
              <a:latin typeface="Inter ExtraBold"/>
              <a:ea typeface="Inter ExtraBold"/>
              <a:cs typeface="Inter ExtraBold"/>
              <a:sym typeface="Inter ExtraBold"/>
            </a:endParaRPr>
          </a:p>
          <a:p>
            <a:pPr indent="0" lvl="0" marL="0" marR="0" rtl="0" algn="l">
              <a:lnSpc>
                <a:spcPct val="100000"/>
              </a:lnSpc>
              <a:spcBef>
                <a:spcPts val="1000"/>
              </a:spcBef>
              <a:spcAft>
                <a:spcPts val="0"/>
              </a:spcAft>
              <a:buClr>
                <a:schemeClr val="dk1"/>
              </a:buClr>
              <a:buSzPts val="1100"/>
              <a:buFont typeface="Arial"/>
              <a:buNone/>
            </a:pPr>
            <a:r>
              <a:rPr b="0" i="0" lang="en" sz="2000" u="none" cap="none" strike="noStrike">
                <a:solidFill>
                  <a:srgbClr val="1A1A1A"/>
                </a:solidFill>
                <a:latin typeface="Inter"/>
                <a:ea typeface="Inter"/>
                <a:cs typeface="Inter"/>
                <a:sym typeface="Inter"/>
              </a:rPr>
              <a:t>Kunal Gaurav</a:t>
            </a:r>
            <a:endParaRPr b="0" i="0" sz="6000" u="none" cap="none" strike="noStrike">
              <a:solidFill>
                <a:srgbClr val="1A1A1A"/>
              </a:solidFill>
              <a:latin typeface="Inter ExtraBold"/>
              <a:ea typeface="Inter ExtraBold"/>
              <a:cs typeface="Inter ExtraBold"/>
              <a:sym typeface="Inter ExtraBold"/>
            </a:endParaRPr>
          </a:p>
        </p:txBody>
      </p:sp>
      <p:pic>
        <p:nvPicPr>
          <p:cNvPr id="83" name="Google Shape;83;p1"/>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84" name="Google Shape;84;p1"/>
          <p:cNvSpPr txBox="1"/>
          <p:nvPr>
            <p:ph idx="4294967295" type="subTitle"/>
          </p:nvPr>
        </p:nvSpPr>
        <p:spPr>
          <a:xfrm>
            <a:off x="152400" y="4600950"/>
            <a:ext cx="86868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1200"/>
              </a:spcAft>
              <a:buClr>
                <a:schemeClr val="dk2"/>
              </a:buClr>
              <a:buSzPts val="1800"/>
              <a:buFont typeface="Arial"/>
              <a:buNone/>
            </a:pPr>
            <a:r>
              <a:t/>
            </a:r>
            <a:endParaRPr b="0" i="0" sz="1200" u="none" cap="none" strike="noStrike">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88" name="Shape 88"/>
        <p:cNvGrpSpPr/>
        <p:nvPr/>
      </p:nvGrpSpPr>
      <p:grpSpPr>
        <a:xfrm>
          <a:off x="0" y="0"/>
          <a:ext cx="0" cy="0"/>
          <a:chOff x="0" y="0"/>
          <a:chExt cx="0" cy="0"/>
        </a:xfrm>
      </p:grpSpPr>
      <p:sp>
        <p:nvSpPr>
          <p:cNvPr id="89" name="Google Shape;89;g3f4700bee58_2_7"/>
          <p:cNvSpPr txBox="1"/>
          <p:nvPr>
            <p:ph type="ctrTitle"/>
          </p:nvPr>
        </p:nvSpPr>
        <p:spPr>
          <a:xfrm>
            <a:off x="96875" y="150975"/>
            <a:ext cx="8520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1A1A1A"/>
                </a:solidFill>
                <a:latin typeface="Inter ExtraBold"/>
                <a:ea typeface="Inter ExtraBold"/>
                <a:cs typeface="Inter ExtraBold"/>
                <a:sym typeface="Inter ExtraBold"/>
              </a:rPr>
              <a:t>Problem</a:t>
            </a:r>
            <a:endParaRPr b="0" i="0" sz="2000" u="none" cap="none" strike="noStrike">
              <a:solidFill>
                <a:srgbClr val="1A1A1A"/>
              </a:solidFill>
              <a:latin typeface="Inter ExtraBold"/>
              <a:ea typeface="Inter ExtraBold"/>
              <a:cs typeface="Inter ExtraBold"/>
              <a:sym typeface="Inter ExtraBold"/>
            </a:endParaRPr>
          </a:p>
        </p:txBody>
      </p:sp>
      <p:sp>
        <p:nvSpPr>
          <p:cNvPr id="90" name="Google Shape;90;g3f4700bee58_2_7"/>
          <p:cNvSpPr txBox="1"/>
          <p:nvPr>
            <p:ph idx="1" type="subTitle"/>
          </p:nvPr>
        </p:nvSpPr>
        <p:spPr>
          <a:xfrm>
            <a:off x="96875" y="1188700"/>
            <a:ext cx="8520600" cy="3852600"/>
          </a:xfrm>
          <a:prstGeom prst="rect">
            <a:avLst/>
          </a:prstGeom>
          <a:noFill/>
          <a:ln>
            <a:noFill/>
          </a:ln>
        </p:spPr>
        <p:txBody>
          <a:bodyPr anchorCtr="0" anchor="b" bIns="91425" lIns="91425" spcFirstLastPara="1" rIns="91425" wrap="square" tIns="91425">
            <a:noAutofit/>
          </a:bodyPr>
          <a:lstStyle/>
          <a:p>
            <a:pPr indent="0" lvl="0" marL="91440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1200"/>
              </a:spcBef>
              <a:spcAft>
                <a:spcPts val="0"/>
              </a:spcAft>
              <a:buClr>
                <a:srgbClr val="1A1A1A"/>
              </a:buClr>
              <a:buSzPts val="1600"/>
              <a:buFont typeface="Inter"/>
              <a:buChar char="●"/>
            </a:pPr>
            <a:r>
              <a:rPr b="0" i="0" lang="en" sz="1600" u="none" cap="none" strike="noStrike">
                <a:solidFill>
                  <a:srgbClr val="1A1A1A"/>
                </a:solidFill>
                <a:latin typeface="Inter"/>
                <a:ea typeface="Inter"/>
                <a:cs typeface="Inter"/>
                <a:sym typeface="Inter"/>
              </a:rPr>
              <a:t>ABC currently manually translates documents from English to Turkish and vice versa and this process is time consuming and prone to human errors.  </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0"/>
              </a:spcBef>
              <a:spcAft>
                <a:spcPts val="0"/>
              </a:spcAft>
              <a:buClr>
                <a:srgbClr val="1A1A1A"/>
              </a:buClr>
              <a:buSzPts val="1600"/>
              <a:buFont typeface="Inter"/>
              <a:buChar char="●"/>
            </a:pPr>
            <a:r>
              <a:rPr b="0" i="0" lang="en" sz="1600" u="none" cap="none" strike="noStrike">
                <a:solidFill>
                  <a:srgbClr val="1A1A1A"/>
                </a:solidFill>
                <a:latin typeface="Inter"/>
                <a:ea typeface="Inter"/>
                <a:cs typeface="Inter"/>
                <a:sym typeface="Inter"/>
              </a:rPr>
              <a:t>The translators at ABC have the task of Translating documents from English to Turkish and vice versa</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0"/>
              </a:spcBef>
              <a:spcAft>
                <a:spcPts val="0"/>
              </a:spcAft>
              <a:buClr>
                <a:srgbClr val="1A1A1A"/>
              </a:buClr>
              <a:buSzPts val="1600"/>
              <a:buFont typeface="Inter"/>
              <a:buChar char="●"/>
            </a:pPr>
            <a:r>
              <a:rPr b="0" i="0" lang="en" sz="1600" u="none" cap="none" strike="noStrike">
                <a:solidFill>
                  <a:srgbClr val="1A1A1A"/>
                </a:solidFill>
                <a:latin typeface="Inter"/>
                <a:ea typeface="Inter"/>
                <a:cs typeface="Inter"/>
                <a:sym typeface="Inter"/>
              </a:rPr>
              <a:t>This process can sometimes become time consuming especially when there are a lot of documents to translate or when the documents are illegible</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0"/>
              </a:spcBef>
              <a:spcAft>
                <a:spcPts val="0"/>
              </a:spcAft>
              <a:buClr>
                <a:srgbClr val="1A1A1A"/>
              </a:buClr>
              <a:buSzPts val="1600"/>
              <a:buFont typeface="Inter"/>
              <a:buChar char="●"/>
            </a:pPr>
            <a:r>
              <a:rPr b="0" i="0" lang="en" sz="1600" u="none" cap="none" strike="noStrike">
                <a:solidFill>
                  <a:srgbClr val="1A1A1A"/>
                </a:solidFill>
                <a:latin typeface="Inter"/>
                <a:ea typeface="Inter"/>
                <a:cs typeface="Inter"/>
                <a:sym typeface="Inter"/>
              </a:rPr>
              <a:t>Sometimes the customer provides images of documents that are difficult to read and translate</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0"/>
              </a:spcBef>
              <a:spcAft>
                <a:spcPts val="0"/>
              </a:spcAft>
              <a:buClr>
                <a:srgbClr val="1A1A1A"/>
              </a:buClr>
              <a:buSzPts val="1600"/>
              <a:buFont typeface="Inter"/>
              <a:buChar char="●"/>
            </a:pPr>
            <a:r>
              <a:rPr b="0" i="0" lang="en" sz="1600" u="none" cap="none" strike="noStrike">
                <a:solidFill>
                  <a:srgbClr val="1A1A1A"/>
                </a:solidFill>
                <a:latin typeface="Inter"/>
                <a:ea typeface="Inter"/>
                <a:cs typeface="Inter"/>
                <a:sym typeface="Inter"/>
              </a:rPr>
              <a:t>ABC needs an automated way to translate the documents from English to Turkish and vice versa</a:t>
            </a:r>
            <a:endParaRPr b="0" i="0" sz="1600" u="none" cap="none" strike="noStrike">
              <a:solidFill>
                <a:srgbClr val="1A1A1A"/>
              </a:solidFill>
              <a:latin typeface="Inter"/>
              <a:ea typeface="Inter"/>
              <a:cs typeface="Inter"/>
              <a:sym typeface="Inter"/>
            </a:endParaRPr>
          </a:p>
          <a:p>
            <a:pPr indent="-330200" lvl="0" marL="457200" marR="0" rtl="0" algn="l">
              <a:lnSpc>
                <a:spcPct val="115000"/>
              </a:lnSpc>
              <a:spcBef>
                <a:spcPts val="0"/>
              </a:spcBef>
              <a:spcAft>
                <a:spcPts val="0"/>
              </a:spcAft>
              <a:buClr>
                <a:srgbClr val="1A1A1A"/>
              </a:buClr>
              <a:buSzPts val="1600"/>
              <a:buFont typeface="Inter"/>
              <a:buChar char="●"/>
            </a:pPr>
            <a:r>
              <a:rPr b="0" i="0" lang="en" sz="1600" u="none" cap="none" strike="noStrike">
                <a:solidFill>
                  <a:srgbClr val="1A1A1A"/>
                </a:solidFill>
                <a:latin typeface="Inter"/>
                <a:ea typeface="Inter"/>
                <a:cs typeface="Inter"/>
                <a:sym typeface="Inter"/>
              </a:rPr>
              <a:t>This Automated workflow should save the translators time and produce accurate translations.</a:t>
            </a:r>
            <a:endParaRPr b="0" i="0" sz="16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1200"/>
              </a:spcAft>
              <a:buClr>
                <a:srgbClr val="000000"/>
              </a:buClr>
              <a:buSzPts val="1600"/>
              <a:buFont typeface="Arial"/>
              <a:buNone/>
            </a:pPr>
            <a:r>
              <a:t/>
            </a:r>
            <a:endParaRPr b="0" i="0" sz="1600" u="none" cap="none" strike="noStrike">
              <a:solidFill>
                <a:srgbClr val="1A1A1A"/>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f4700bee58_2_12"/>
          <p:cNvSpPr txBox="1"/>
          <p:nvPr/>
        </p:nvSpPr>
        <p:spPr>
          <a:xfrm>
            <a:off x="68400" y="1602775"/>
            <a:ext cx="9075600" cy="3109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rgbClr val="000000"/>
              </a:buClr>
              <a:buSzPts val="1200"/>
              <a:buFont typeface="Arial"/>
              <a:buNone/>
            </a:pPr>
            <a:r>
              <a:rPr b="0" i="0" lang="en" sz="1200" u="none" cap="none" strike="noStrike">
                <a:solidFill>
                  <a:srgbClr val="1A1A1A"/>
                </a:solidFill>
                <a:latin typeface="Inter"/>
                <a:ea typeface="Inter"/>
                <a:cs typeface="Inter"/>
                <a:sym typeface="Inter"/>
              </a:rPr>
              <a:t>N8n AI tool is used to create AI Automated workflows that translate the documents and require human interaction in the final stages</a:t>
            </a:r>
            <a:endParaRPr b="0" i="0" sz="1200" u="none" cap="none" strike="noStrike">
              <a:solidFill>
                <a:srgbClr val="1A1A1A"/>
              </a:solidFill>
              <a:latin typeface="Inter"/>
              <a:ea typeface="Inter"/>
              <a:cs typeface="Inter"/>
              <a:sym typeface="Inter"/>
            </a:endParaRPr>
          </a:p>
          <a:p>
            <a:pPr indent="-304800" lvl="0" marL="457200" marR="0" rtl="0" algn="l">
              <a:lnSpc>
                <a:spcPct val="115000"/>
              </a:lnSpc>
              <a:spcBef>
                <a:spcPts val="1200"/>
              </a:spcBef>
              <a:spcAft>
                <a:spcPts val="0"/>
              </a:spcAft>
              <a:buClr>
                <a:srgbClr val="1A1A1A"/>
              </a:buClr>
              <a:buSzPts val="1200"/>
              <a:buFont typeface="Inter"/>
              <a:buChar char="●"/>
            </a:pPr>
            <a:r>
              <a:rPr b="0" i="0" lang="en" sz="1200" u="none" cap="none" strike="noStrike">
                <a:solidFill>
                  <a:srgbClr val="1A1A1A"/>
                </a:solidFill>
                <a:latin typeface="Inter"/>
                <a:ea typeface="Inter"/>
                <a:cs typeface="Inter"/>
                <a:sym typeface="Inter"/>
              </a:rPr>
              <a:t>2 Workflows are created  - The Native pdf translation workflow and The OCR translation workflow</a:t>
            </a:r>
            <a:endParaRPr b="0" i="0" sz="1200" u="none" cap="none" strike="noStrike">
              <a:solidFill>
                <a:srgbClr val="1A1A1A"/>
              </a:solidFill>
              <a:latin typeface="Inter"/>
              <a:ea typeface="Inter"/>
              <a:cs typeface="Inter"/>
              <a:sym typeface="Inter"/>
            </a:endParaRPr>
          </a:p>
          <a:p>
            <a:pPr indent="-304800" lvl="0" marL="457200" marR="0" rtl="0" algn="l">
              <a:lnSpc>
                <a:spcPct val="115000"/>
              </a:lnSpc>
              <a:spcBef>
                <a:spcPts val="0"/>
              </a:spcBef>
              <a:spcAft>
                <a:spcPts val="0"/>
              </a:spcAft>
              <a:buClr>
                <a:srgbClr val="1A1A1A"/>
              </a:buClr>
              <a:buSzPts val="1200"/>
              <a:buFont typeface="Inter"/>
              <a:buChar char="●"/>
            </a:pPr>
            <a:r>
              <a:rPr b="0" i="0" lang="en" sz="1200" u="none" cap="none" strike="noStrike">
                <a:solidFill>
                  <a:srgbClr val="1A1A1A"/>
                </a:solidFill>
                <a:latin typeface="Inter"/>
                <a:ea typeface="Inter"/>
                <a:cs typeface="Inter"/>
                <a:sym typeface="Inter"/>
              </a:rPr>
              <a:t>The Native pdf translation workflow takes a standard PDF file and translates it while keeping the original file’s layout and formatting intact. PII is implemented by the Lara Translate node which runs in “Incognito” mode.  However, it can’t recognize the content in image PDF files. For that we have the OCR workflow </a:t>
            </a:r>
            <a:endParaRPr b="0" i="0" sz="12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0"/>
              </a:spcAft>
              <a:buClr>
                <a:srgbClr val="000000"/>
              </a:buClr>
              <a:buSzPts val="1200"/>
              <a:buFont typeface="Arial"/>
              <a:buNone/>
            </a:pPr>
            <a:r>
              <a:t/>
            </a:r>
            <a:endParaRPr b="0" i="0" sz="1200" u="none" cap="none" strike="noStrike">
              <a:solidFill>
                <a:srgbClr val="1A1A1A"/>
              </a:solidFill>
              <a:latin typeface="Inter"/>
              <a:ea typeface="Inter"/>
              <a:cs typeface="Inter"/>
              <a:sym typeface="Inter"/>
            </a:endParaRPr>
          </a:p>
          <a:p>
            <a:pPr indent="-304800" lvl="0" marL="457200" marR="0" rtl="0" algn="l">
              <a:lnSpc>
                <a:spcPct val="115000"/>
              </a:lnSpc>
              <a:spcBef>
                <a:spcPts val="1200"/>
              </a:spcBef>
              <a:spcAft>
                <a:spcPts val="0"/>
              </a:spcAft>
              <a:buClr>
                <a:srgbClr val="1A1A1A"/>
              </a:buClr>
              <a:buSzPts val="1200"/>
              <a:buFont typeface="Inter"/>
              <a:buChar char="●"/>
            </a:pPr>
            <a:r>
              <a:rPr b="0" i="0" lang="en" sz="1200" u="none" cap="none" strike="noStrike">
                <a:solidFill>
                  <a:srgbClr val="1A1A1A"/>
                </a:solidFill>
                <a:latin typeface="Inter"/>
                <a:ea typeface="Inter"/>
                <a:cs typeface="Inter"/>
                <a:sym typeface="Inter"/>
              </a:rPr>
              <a:t>The OCR translation workflow uses OCR technology on an image that has been generated by taking a picture of the document. This step outputs a pdf file that has a different format than the original image PDF file. PII is implemented by the AI module. There is a change in the layout format of the image file.</a:t>
            </a:r>
            <a:endParaRPr b="0" i="0" sz="1200" u="none" cap="none" strike="noStrike">
              <a:solidFill>
                <a:srgbClr val="1A1A1A"/>
              </a:solidFill>
              <a:latin typeface="Inter"/>
              <a:ea typeface="Inter"/>
              <a:cs typeface="Inter"/>
              <a:sym typeface="Inter"/>
            </a:endParaRPr>
          </a:p>
          <a:p>
            <a:pPr indent="0" lvl="0" marL="914400" marR="0" rtl="0" algn="l">
              <a:lnSpc>
                <a:spcPct val="115000"/>
              </a:lnSpc>
              <a:spcBef>
                <a:spcPts val="1200"/>
              </a:spcBef>
              <a:spcAft>
                <a:spcPts val="1200"/>
              </a:spcAft>
              <a:buClr>
                <a:srgbClr val="000000"/>
              </a:buClr>
              <a:buSzPts val="1200"/>
              <a:buFont typeface="Arial"/>
              <a:buNone/>
            </a:pPr>
            <a:r>
              <a:t/>
            </a:r>
            <a:endParaRPr b="0" i="0" sz="1200" u="none" cap="none" strike="noStrike">
              <a:solidFill>
                <a:srgbClr val="1A1A1A"/>
              </a:solidFill>
              <a:latin typeface="Inter"/>
              <a:ea typeface="Inter"/>
              <a:cs typeface="Inter"/>
              <a:sym typeface="Inter"/>
            </a:endParaRPr>
          </a:p>
        </p:txBody>
      </p:sp>
      <p:sp>
        <p:nvSpPr>
          <p:cNvPr id="96" name="Google Shape;96;g3f4700bee58_2_12"/>
          <p:cNvSpPr txBox="1"/>
          <p:nvPr/>
        </p:nvSpPr>
        <p:spPr>
          <a:xfrm>
            <a:off x="2541150" y="835625"/>
            <a:ext cx="39453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Solution</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f4700bee58_2_17"/>
          <p:cNvSpPr txBox="1"/>
          <p:nvPr/>
        </p:nvSpPr>
        <p:spPr>
          <a:xfrm>
            <a:off x="356175" y="84875"/>
            <a:ext cx="69315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Arial"/>
                <a:ea typeface="Arial"/>
                <a:cs typeface="Arial"/>
                <a:sym typeface="Arial"/>
              </a:rPr>
              <a:t>Native PDF Translation Flowchart</a:t>
            </a:r>
            <a:endParaRPr b="0" i="0" sz="2500" u="none" cap="none" strike="noStrike">
              <a:solidFill>
                <a:srgbClr val="000000"/>
              </a:solidFill>
              <a:latin typeface="Arial"/>
              <a:ea typeface="Arial"/>
              <a:cs typeface="Arial"/>
              <a:sym typeface="Arial"/>
            </a:endParaRPr>
          </a:p>
        </p:txBody>
      </p:sp>
      <p:sp>
        <p:nvSpPr>
          <p:cNvPr id="102" name="Google Shape;102;g3f4700bee58_2_17"/>
          <p:cNvSpPr txBox="1"/>
          <p:nvPr/>
        </p:nvSpPr>
        <p:spPr>
          <a:xfrm>
            <a:off x="509175" y="795600"/>
            <a:ext cx="8040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3" name="Google Shape;103;g3f4700bee58_2_17" title="Native_pdf_translation.png"/>
          <p:cNvPicPr preferRelativeResize="0"/>
          <p:nvPr/>
        </p:nvPicPr>
        <p:blipFill rotWithShape="1">
          <a:blip r:embed="rId3">
            <a:alphaModFix/>
          </a:blip>
          <a:srcRect b="0" l="0" r="0" t="0"/>
          <a:stretch/>
        </p:blipFill>
        <p:spPr>
          <a:xfrm>
            <a:off x="152400" y="726050"/>
            <a:ext cx="8005274" cy="42650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f4700bee58_2_23"/>
          <p:cNvSpPr txBox="1"/>
          <p:nvPr/>
        </p:nvSpPr>
        <p:spPr>
          <a:xfrm>
            <a:off x="356175" y="84875"/>
            <a:ext cx="69315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Arial"/>
                <a:ea typeface="Arial"/>
                <a:cs typeface="Arial"/>
                <a:sym typeface="Arial"/>
              </a:rPr>
              <a:t>Native PDF Translation Workflow </a:t>
            </a:r>
            <a:endParaRPr b="0" i="0" sz="2500" u="none" cap="none" strike="noStrike">
              <a:solidFill>
                <a:srgbClr val="000000"/>
              </a:solidFill>
              <a:latin typeface="Arial"/>
              <a:ea typeface="Arial"/>
              <a:cs typeface="Arial"/>
              <a:sym typeface="Arial"/>
            </a:endParaRPr>
          </a:p>
        </p:txBody>
      </p:sp>
      <p:sp>
        <p:nvSpPr>
          <p:cNvPr id="109" name="Google Shape;109;g3f4700bee58_2_23"/>
          <p:cNvSpPr txBox="1"/>
          <p:nvPr/>
        </p:nvSpPr>
        <p:spPr>
          <a:xfrm>
            <a:off x="509175" y="795600"/>
            <a:ext cx="8040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0" name="Google Shape;110;g3f4700bee58_2_23" title="NativePDFTranslator .png"/>
          <p:cNvPicPr preferRelativeResize="0"/>
          <p:nvPr/>
        </p:nvPicPr>
        <p:blipFill rotWithShape="1">
          <a:blip r:embed="rId3">
            <a:alphaModFix/>
          </a:blip>
          <a:srcRect b="0" l="0" r="0" t="0"/>
          <a:stretch/>
        </p:blipFill>
        <p:spPr>
          <a:xfrm>
            <a:off x="864725" y="1163275"/>
            <a:ext cx="7166822" cy="3642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409ac91f0d9_0_0"/>
          <p:cNvSpPr txBox="1"/>
          <p:nvPr/>
        </p:nvSpPr>
        <p:spPr>
          <a:xfrm>
            <a:off x="3306950" y="249900"/>
            <a:ext cx="33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Original PDF Document:</a:t>
            </a:r>
            <a:endParaRPr/>
          </a:p>
        </p:txBody>
      </p:sp>
      <p:pic>
        <p:nvPicPr>
          <p:cNvPr id="116" name="Google Shape;116;g409ac91f0d9_0_0" title="PDF_native_org.png"/>
          <p:cNvPicPr preferRelativeResize="0"/>
          <p:nvPr/>
        </p:nvPicPr>
        <p:blipFill>
          <a:blip r:embed="rId3">
            <a:alphaModFix/>
          </a:blip>
          <a:stretch>
            <a:fillRect/>
          </a:stretch>
        </p:blipFill>
        <p:spPr>
          <a:xfrm>
            <a:off x="152400" y="802500"/>
            <a:ext cx="4982987" cy="41885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409ac91f0d9_0_29"/>
          <p:cNvSpPr txBox="1"/>
          <p:nvPr/>
        </p:nvSpPr>
        <p:spPr>
          <a:xfrm>
            <a:off x="3888125" y="389400"/>
            <a:ext cx="33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Translated PDF Document: </a:t>
            </a:r>
            <a:endParaRPr/>
          </a:p>
        </p:txBody>
      </p:sp>
      <p:pic>
        <p:nvPicPr>
          <p:cNvPr id="122" name="Google Shape;122;g409ac91f0d9_0_29" title="PDF_native_translated.png"/>
          <p:cNvPicPr preferRelativeResize="0"/>
          <p:nvPr/>
        </p:nvPicPr>
        <p:blipFill>
          <a:blip r:embed="rId3">
            <a:alphaModFix/>
          </a:blip>
          <a:stretch>
            <a:fillRect/>
          </a:stretch>
        </p:blipFill>
        <p:spPr>
          <a:xfrm>
            <a:off x="152400" y="942000"/>
            <a:ext cx="4688744" cy="404910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f4700bee58_2_29"/>
          <p:cNvSpPr txBox="1"/>
          <p:nvPr/>
        </p:nvSpPr>
        <p:spPr>
          <a:xfrm>
            <a:off x="212150" y="381875"/>
            <a:ext cx="8952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Arial"/>
                <a:ea typeface="Arial"/>
                <a:cs typeface="Arial"/>
                <a:sym typeface="Arial"/>
              </a:rPr>
              <a:t>OCR Translation Flowchart</a:t>
            </a:r>
            <a:endParaRPr b="0" i="0" sz="2500" u="none" cap="none" strike="noStrike">
              <a:solidFill>
                <a:srgbClr val="000000"/>
              </a:solidFill>
              <a:latin typeface="Arial"/>
              <a:ea typeface="Arial"/>
              <a:cs typeface="Arial"/>
              <a:sym typeface="Arial"/>
            </a:endParaRPr>
          </a:p>
        </p:txBody>
      </p:sp>
      <p:pic>
        <p:nvPicPr>
          <p:cNvPr id="128" name="Google Shape;128;g3f4700bee58_2_29" title="OCR_pdf_translation.png"/>
          <p:cNvPicPr preferRelativeResize="0"/>
          <p:nvPr/>
        </p:nvPicPr>
        <p:blipFill rotWithShape="1">
          <a:blip r:embed="rId3">
            <a:alphaModFix/>
          </a:blip>
          <a:srcRect b="0" l="0" r="0" t="0"/>
          <a:stretch/>
        </p:blipFill>
        <p:spPr>
          <a:xfrm>
            <a:off x="152400" y="1103675"/>
            <a:ext cx="8579149" cy="38874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f4700bee58_2_34"/>
          <p:cNvSpPr txBox="1"/>
          <p:nvPr/>
        </p:nvSpPr>
        <p:spPr>
          <a:xfrm>
            <a:off x="212150" y="381875"/>
            <a:ext cx="8952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000000"/>
                </a:solidFill>
                <a:latin typeface="Arial"/>
                <a:ea typeface="Arial"/>
                <a:cs typeface="Arial"/>
                <a:sym typeface="Arial"/>
              </a:rPr>
              <a:t>OCR Translation Workflow </a:t>
            </a:r>
            <a:endParaRPr b="0" i="0" sz="2500" u="none" cap="none" strike="noStrike">
              <a:solidFill>
                <a:srgbClr val="000000"/>
              </a:solidFill>
              <a:latin typeface="Arial"/>
              <a:ea typeface="Arial"/>
              <a:cs typeface="Arial"/>
              <a:sym typeface="Arial"/>
            </a:endParaRPr>
          </a:p>
        </p:txBody>
      </p:sp>
      <p:pic>
        <p:nvPicPr>
          <p:cNvPr id="134" name="Google Shape;134;g3f4700bee58_2_34" title="NativeOCRTranslator.png"/>
          <p:cNvPicPr preferRelativeResize="0"/>
          <p:nvPr/>
        </p:nvPicPr>
        <p:blipFill rotWithShape="1">
          <a:blip r:embed="rId3">
            <a:alphaModFix/>
          </a:blip>
          <a:srcRect b="0" l="0" r="0" t="0"/>
          <a:stretch/>
        </p:blipFill>
        <p:spPr>
          <a:xfrm>
            <a:off x="330500" y="1055725"/>
            <a:ext cx="7977405" cy="38874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409ac91f0d9_0_58"/>
          <p:cNvSpPr txBox="1"/>
          <p:nvPr/>
        </p:nvSpPr>
        <p:spPr>
          <a:xfrm>
            <a:off x="3306950" y="470750"/>
            <a:ext cx="33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Original Image document:</a:t>
            </a:r>
            <a:endParaRPr/>
          </a:p>
        </p:txBody>
      </p:sp>
      <p:pic>
        <p:nvPicPr>
          <p:cNvPr id="140" name="Google Shape;140;g409ac91f0d9_0_58" title="OCR_original.png"/>
          <p:cNvPicPr preferRelativeResize="0"/>
          <p:nvPr/>
        </p:nvPicPr>
        <p:blipFill>
          <a:blip r:embed="rId3">
            <a:alphaModFix/>
          </a:blip>
          <a:stretch>
            <a:fillRect/>
          </a:stretch>
        </p:blipFill>
        <p:spPr>
          <a:xfrm>
            <a:off x="152400" y="1023350"/>
            <a:ext cx="4553438" cy="39677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409ac91f0d9_0_87"/>
          <p:cNvSpPr txBox="1"/>
          <p:nvPr/>
        </p:nvSpPr>
        <p:spPr>
          <a:xfrm>
            <a:off x="3423200" y="517250"/>
            <a:ext cx="33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Translated Image document:</a:t>
            </a:r>
            <a:endParaRPr/>
          </a:p>
        </p:txBody>
      </p:sp>
      <p:pic>
        <p:nvPicPr>
          <p:cNvPr id="146" name="Google Shape;146;g409ac91f0d9_0_87" title="OCR_translated.png"/>
          <p:cNvPicPr preferRelativeResize="0"/>
          <p:nvPr/>
        </p:nvPicPr>
        <p:blipFill>
          <a:blip r:embed="rId3">
            <a:alphaModFix/>
          </a:blip>
          <a:stretch>
            <a:fillRect/>
          </a:stretch>
        </p:blipFill>
        <p:spPr>
          <a:xfrm>
            <a:off x="152400" y="1069850"/>
            <a:ext cx="8839200" cy="33257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409ac91f0d9_0_116"/>
          <p:cNvSpPr txBox="1"/>
          <p:nvPr/>
        </p:nvSpPr>
        <p:spPr>
          <a:xfrm>
            <a:off x="569575" y="127850"/>
            <a:ext cx="8273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t>Example of the prompt written to sanitize the output text of the previous node to pure markdown and implement PII (check for </a:t>
            </a:r>
            <a:r>
              <a:rPr b="1" lang="en" sz="1600"/>
              <a:t>P</a:t>
            </a:r>
            <a:r>
              <a:rPr lang="en" sz="1600"/>
              <a:t>ersonally </a:t>
            </a:r>
            <a:r>
              <a:rPr b="1" lang="en" sz="1600"/>
              <a:t>I</a:t>
            </a:r>
            <a:r>
              <a:rPr lang="en" sz="1600"/>
              <a:t>dentifiable </a:t>
            </a:r>
            <a:r>
              <a:rPr b="1" lang="en" sz="1600"/>
              <a:t>I</a:t>
            </a:r>
            <a:r>
              <a:rPr lang="en" sz="1600"/>
              <a:t>nformation) on the text data:</a:t>
            </a:r>
            <a:endParaRPr sz="1600"/>
          </a:p>
        </p:txBody>
      </p:sp>
      <p:sp>
        <p:nvSpPr>
          <p:cNvPr id="152" name="Google Shape;152;g409ac91f0d9_0_116"/>
          <p:cNvSpPr txBox="1"/>
          <p:nvPr/>
        </p:nvSpPr>
        <p:spPr>
          <a:xfrm>
            <a:off x="569575" y="798875"/>
            <a:ext cx="82179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Here is the prompt:</a:t>
            </a:r>
            <a:endParaRPr sz="1200"/>
          </a:p>
          <a:p>
            <a:pPr indent="0" lvl="0" marL="0" rtl="0" algn="l">
              <a:spcBef>
                <a:spcPts val="0"/>
              </a:spcBef>
              <a:spcAft>
                <a:spcPts val="0"/>
              </a:spcAft>
              <a:buNone/>
            </a:pPr>
            <a:r>
              <a:t/>
            </a:r>
            <a:endParaRPr sz="1200"/>
          </a:p>
          <a:p>
            <a:pPr indent="0" lvl="0" marL="0" rtl="0" algn="l">
              <a:spcBef>
                <a:spcPts val="0"/>
              </a:spcBef>
              <a:spcAft>
                <a:spcPts val="0"/>
              </a:spcAft>
              <a:buClr>
                <a:schemeClr val="dk1"/>
              </a:buClr>
              <a:buSzPts val="1100"/>
              <a:buFont typeface="Arial"/>
              <a:buNone/>
            </a:pPr>
            <a:r>
              <a:rPr lang="en" sz="1200"/>
              <a:t>You are an expert at formatting text into clean, organized Markdown.Please take the following raw text, remove all unnecessary line breaks, fix extra spaces, and format it using proper Markdown.</a:t>
            </a:r>
            <a:endParaRPr sz="1200"/>
          </a:p>
          <a:p>
            <a:pPr indent="0" lvl="0" marL="0" rtl="0" algn="l">
              <a:spcBef>
                <a:spcPts val="0"/>
              </a:spcBef>
              <a:spcAft>
                <a:spcPts val="0"/>
              </a:spcAft>
              <a:buClr>
                <a:schemeClr val="dk1"/>
              </a:buClr>
              <a:buSzPts val="1100"/>
              <a:buFont typeface="Arial"/>
              <a:buNone/>
            </a:pPr>
            <a:r>
              <a:rPr lang="en" sz="1200"/>
              <a:t>Also make sure to implement PII on the text. Replace the original name by [NAME], original email by [EMAIL],original social security number by [SSN] and original address by [ADD]. </a:t>
            </a:r>
            <a:endParaRPr sz="1200"/>
          </a:p>
          <a:p>
            <a:pPr indent="0" lvl="0" marL="0" rtl="0" algn="l">
              <a:spcBef>
                <a:spcPts val="0"/>
              </a:spcBef>
              <a:spcAft>
                <a:spcPts val="0"/>
              </a:spcAft>
              <a:buClr>
                <a:schemeClr val="dk1"/>
              </a:buClr>
              <a:buSzPts val="1100"/>
              <a:buFont typeface="Arial"/>
              <a:buNone/>
            </a:pPr>
            <a:r>
              <a:rPr lang="en" sz="1200"/>
              <a:t>Remove the line "Here's the extracted content from the provided PDF:\n\n" from the text. Here is the text:  {{ $json.candidates[0].content.parts[0].text }}</a:t>
            </a:r>
            <a:endParaRPr sz="1200"/>
          </a:p>
          <a:p>
            <a:pPr indent="0" lvl="0" marL="0" rtl="0" algn="l">
              <a:spcBef>
                <a:spcPts val="0"/>
              </a:spcBef>
              <a:spcAft>
                <a:spcPts val="0"/>
              </a:spcAft>
              <a:buClr>
                <a:schemeClr val="dk1"/>
              </a:buClr>
              <a:buSzPts val="1100"/>
              <a:buFont typeface="Arial"/>
              <a:buNone/>
            </a:pPr>
            <a:r>
              <a:rPr lang="en" sz="1200"/>
              <a:t>Give the resultant text as the final output.</a:t>
            </a:r>
            <a:endParaRPr sz="1200"/>
          </a:p>
          <a:p>
            <a:pPr indent="0" lvl="0" marL="0" rtl="0" algn="l">
              <a:spcBef>
                <a:spcPts val="0"/>
              </a:spcBef>
              <a:spcAft>
                <a:spcPts val="0"/>
              </a:spcAft>
              <a:buClr>
                <a:schemeClr val="dk1"/>
              </a:buClr>
              <a:buSzPts val="1100"/>
              <a:buFont typeface="Arial"/>
              <a:buNone/>
            </a:pPr>
            <a:r>
              <a:t/>
            </a:r>
            <a:endParaRPr sz="1200"/>
          </a:p>
          <a:p>
            <a:pPr indent="0" lvl="0" marL="0" rtl="0" algn="l">
              <a:spcBef>
                <a:spcPts val="0"/>
              </a:spcBef>
              <a:spcAft>
                <a:spcPts val="0"/>
              </a:spcAft>
              <a:buNone/>
            </a:pPr>
            <a:r>
              <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409ac91f0d9_0_145"/>
          <p:cNvSpPr txBox="1"/>
          <p:nvPr/>
        </p:nvSpPr>
        <p:spPr>
          <a:xfrm>
            <a:off x="3429000" y="337100"/>
            <a:ext cx="33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Example of Error Handling</a:t>
            </a:r>
            <a:endParaRPr/>
          </a:p>
        </p:txBody>
      </p:sp>
      <p:sp>
        <p:nvSpPr>
          <p:cNvPr id="158" name="Google Shape;158;g409ac91f0d9_0_145"/>
          <p:cNvSpPr txBox="1"/>
          <p:nvPr/>
        </p:nvSpPr>
        <p:spPr>
          <a:xfrm>
            <a:off x="2882675" y="2132950"/>
            <a:ext cx="33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59" name="Google Shape;159;g409ac91f0d9_0_145"/>
          <p:cNvSpPr txBox="1"/>
          <p:nvPr/>
        </p:nvSpPr>
        <p:spPr>
          <a:xfrm>
            <a:off x="331275" y="993825"/>
            <a:ext cx="8431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Below is the example of Error handling done by the Lara translate node. If there is an error, the workflow stops:</a:t>
            </a:r>
            <a:endParaRPr/>
          </a:p>
          <a:p>
            <a:pPr indent="0" lvl="0" marL="0" rtl="0" algn="l">
              <a:spcBef>
                <a:spcPts val="0"/>
              </a:spcBef>
              <a:spcAft>
                <a:spcPts val="0"/>
              </a:spcAft>
              <a:buNone/>
            </a:pPr>
            <a:r>
              <a:t/>
            </a:r>
            <a:endParaRPr/>
          </a:p>
        </p:txBody>
      </p:sp>
      <p:pic>
        <p:nvPicPr>
          <p:cNvPr id="160" name="Google Shape;160;g409ac91f0d9_0_145" title="Error_handling_translate.png"/>
          <p:cNvPicPr preferRelativeResize="0"/>
          <p:nvPr/>
        </p:nvPicPr>
        <p:blipFill>
          <a:blip r:embed="rId3">
            <a:alphaModFix/>
          </a:blip>
          <a:stretch>
            <a:fillRect/>
          </a:stretch>
        </p:blipFill>
        <p:spPr>
          <a:xfrm>
            <a:off x="829203" y="1982375"/>
            <a:ext cx="6458972" cy="2787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g409ac91f0d9_0_176"/>
          <p:cNvSpPr txBox="1"/>
          <p:nvPr/>
        </p:nvSpPr>
        <p:spPr>
          <a:xfrm>
            <a:off x="3737025" y="261525"/>
            <a:ext cx="334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Example of Logging </a:t>
            </a:r>
            <a:endParaRPr/>
          </a:p>
        </p:txBody>
      </p:sp>
      <p:sp>
        <p:nvSpPr>
          <p:cNvPr id="166" name="Google Shape;166;g409ac91f0d9_0_176"/>
          <p:cNvSpPr txBox="1"/>
          <p:nvPr/>
        </p:nvSpPr>
        <p:spPr>
          <a:xfrm>
            <a:off x="371950" y="831100"/>
            <a:ext cx="8600100" cy="40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Below is an example of Logging done by the AI agent node that cleans the data to make sure it’s pure markdown:</a:t>
            </a:r>
            <a:endParaRPr/>
          </a:p>
          <a:p>
            <a:pPr indent="0" lvl="0" marL="0" rtl="0" algn="l">
              <a:spcBef>
                <a:spcPts val="0"/>
              </a:spcBef>
              <a:spcAft>
                <a:spcPts val="0"/>
              </a:spcAft>
              <a:buNone/>
            </a:pPr>
            <a:r>
              <a:rPr lang="en"/>
              <a:t>   </a:t>
            </a:r>
            <a:endParaRPr/>
          </a:p>
        </p:txBody>
      </p:sp>
      <p:pic>
        <p:nvPicPr>
          <p:cNvPr id="167" name="Google Shape;167;g409ac91f0d9_0_176" title="Log_OCR_run.png"/>
          <p:cNvPicPr preferRelativeResize="0"/>
          <p:nvPr/>
        </p:nvPicPr>
        <p:blipFill>
          <a:blip r:embed="rId3">
            <a:alphaModFix/>
          </a:blip>
          <a:stretch>
            <a:fillRect/>
          </a:stretch>
        </p:blipFill>
        <p:spPr>
          <a:xfrm>
            <a:off x="152400" y="2133375"/>
            <a:ext cx="8839204" cy="160124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71" name="Shape 171"/>
        <p:cNvGrpSpPr/>
        <p:nvPr/>
      </p:nvGrpSpPr>
      <p:grpSpPr>
        <a:xfrm>
          <a:off x="0" y="0"/>
          <a:ext cx="0" cy="0"/>
          <a:chOff x="0" y="0"/>
          <a:chExt cx="0" cy="0"/>
        </a:xfrm>
      </p:grpSpPr>
      <p:pic>
        <p:nvPicPr>
          <p:cNvPr id="172" name="Google Shape;172;g3f4700bee58_2_39"/>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173" name="Google Shape;173;g3f4700bee58_2_39"/>
          <p:cNvSpPr txBox="1"/>
          <p:nvPr>
            <p:ph type="ctrTitle"/>
          </p:nvPr>
        </p:nvSpPr>
        <p:spPr>
          <a:xfrm>
            <a:off x="96875" y="424975"/>
            <a:ext cx="85206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1A1A1A"/>
                </a:solidFill>
                <a:latin typeface="Inter"/>
                <a:ea typeface="Inter"/>
                <a:cs typeface="Inter"/>
                <a:sym typeface="Inter"/>
              </a:rPr>
              <a:t>Description of Lara Translation API</a:t>
            </a:r>
            <a:endParaRPr b="0" i="0" sz="2500" u="none" cap="none" strike="noStrike">
              <a:solidFill>
                <a:srgbClr val="1A1A1A"/>
              </a:solidFill>
              <a:latin typeface="Inter"/>
              <a:ea typeface="Inter"/>
              <a:cs typeface="Inter"/>
              <a:sym typeface="Inter"/>
            </a:endParaRPr>
          </a:p>
        </p:txBody>
      </p:sp>
      <p:sp>
        <p:nvSpPr>
          <p:cNvPr id="174" name="Google Shape;174;g3f4700bee58_2_39"/>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p:txBody>
      </p:sp>
      <p:sp>
        <p:nvSpPr>
          <p:cNvPr id="175" name="Google Shape;175;g3f4700bee58_2_39"/>
          <p:cNvSpPr txBox="1"/>
          <p:nvPr/>
        </p:nvSpPr>
        <p:spPr>
          <a:xfrm>
            <a:off x="273975" y="1500025"/>
            <a:ext cx="8781000" cy="32016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Lara translate is a highly acclaimed app that integrates its API with n8n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Lara translate can translate almost all the major world languages.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The user only has to provide the original language and the target language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It has a Free to use edition with 60,000 characters/month limit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It has 3 paid editions </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8 Euro/month Pro edition doing 500,000 characters/month with 0.25 Euros for the next 10,000 characters.</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 25 Euro/month Team edition(unlimited users) with 1.5 million characters/month with 0.20 Euros for the next 10,000 characters.</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Enterprise plan with negotiable pricing.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1EE"/>
        </a:solidFill>
      </p:bgPr>
    </p:bg>
    <p:spTree>
      <p:nvGrpSpPr>
        <p:cNvPr id="179" name="Shape 179"/>
        <p:cNvGrpSpPr/>
        <p:nvPr/>
      </p:nvGrpSpPr>
      <p:grpSpPr>
        <a:xfrm>
          <a:off x="0" y="0"/>
          <a:ext cx="0" cy="0"/>
          <a:chOff x="0" y="0"/>
          <a:chExt cx="0" cy="0"/>
        </a:xfrm>
      </p:grpSpPr>
      <p:pic>
        <p:nvPicPr>
          <p:cNvPr id="180" name="Google Shape;180;g3f4700bee58_2_46"/>
          <p:cNvPicPr preferRelativeResize="0"/>
          <p:nvPr/>
        </p:nvPicPr>
        <p:blipFill rotWithShape="1">
          <a:blip r:embed="rId3">
            <a:alphaModFix/>
          </a:blip>
          <a:srcRect b="0" l="0" r="0" t="0"/>
          <a:stretch/>
        </p:blipFill>
        <p:spPr>
          <a:xfrm>
            <a:off x="228600" y="228600"/>
            <a:ext cx="866775" cy="194225"/>
          </a:xfrm>
          <a:prstGeom prst="rect">
            <a:avLst/>
          </a:prstGeom>
          <a:noFill/>
          <a:ln>
            <a:noFill/>
          </a:ln>
        </p:spPr>
      </p:pic>
      <p:sp>
        <p:nvSpPr>
          <p:cNvPr id="181" name="Google Shape;181;g3f4700bee58_2_46"/>
          <p:cNvSpPr txBox="1"/>
          <p:nvPr>
            <p:ph type="ctrTitle"/>
          </p:nvPr>
        </p:nvSpPr>
        <p:spPr>
          <a:xfrm>
            <a:off x="96875" y="424975"/>
            <a:ext cx="85206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 sz="2500" u="none" cap="none" strike="noStrike">
                <a:solidFill>
                  <a:srgbClr val="1A1A1A"/>
                </a:solidFill>
                <a:latin typeface="Inter"/>
                <a:ea typeface="Inter"/>
                <a:cs typeface="Inter"/>
                <a:sym typeface="Inter"/>
              </a:rPr>
              <a:t>Description of PDF4me API</a:t>
            </a:r>
            <a:endParaRPr b="0" i="0" sz="2500" u="none" cap="none" strike="noStrike">
              <a:solidFill>
                <a:srgbClr val="1A1A1A"/>
              </a:solidFill>
              <a:latin typeface="Inter"/>
              <a:ea typeface="Inter"/>
              <a:cs typeface="Inter"/>
              <a:sym typeface="Inter"/>
            </a:endParaRPr>
          </a:p>
        </p:txBody>
      </p:sp>
      <p:sp>
        <p:nvSpPr>
          <p:cNvPr id="182" name="Google Shape;182;g3f4700bee58_2_46"/>
          <p:cNvSpPr txBox="1"/>
          <p:nvPr>
            <p:ph idx="1" type="subTitle"/>
          </p:nvPr>
        </p:nvSpPr>
        <p:spPr>
          <a:xfrm>
            <a:off x="139800" y="2298300"/>
            <a:ext cx="8520600" cy="2616600"/>
          </a:xfrm>
          <a:prstGeom prst="rect">
            <a:avLst/>
          </a:prstGeom>
          <a:noFill/>
          <a:ln>
            <a:noFill/>
          </a:ln>
        </p:spPr>
        <p:txBody>
          <a:bodyPr anchorCtr="0" anchor="b"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a:p>
            <a:pPr indent="0" lvl="0" marL="45720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1A1A1A"/>
              </a:solidFill>
              <a:latin typeface="Inter"/>
              <a:ea typeface="Inter"/>
              <a:cs typeface="Inter"/>
              <a:sym typeface="Inter"/>
            </a:endParaRPr>
          </a:p>
        </p:txBody>
      </p:sp>
      <p:sp>
        <p:nvSpPr>
          <p:cNvPr id="183" name="Google Shape;183;g3f4700bee58_2_46"/>
          <p:cNvSpPr txBox="1"/>
          <p:nvPr/>
        </p:nvSpPr>
        <p:spPr>
          <a:xfrm>
            <a:off x="228600" y="1160463"/>
            <a:ext cx="5890500" cy="2770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PDF4me is a highly popular and reliable doc format converter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It converts files between various formats including PDF.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 free plan is available for limited 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It offers the following paid plans:</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$6 per month for Pro plan offering 100 automation calls/month</a:t>
            </a:r>
            <a:endParaRPr b="0" i="0" sz="1400" u="none" cap="none" strike="noStrike">
              <a:solidFill>
                <a:srgbClr val="000000"/>
              </a:solidFill>
              <a:latin typeface="Arial"/>
              <a:ea typeface="Arial"/>
              <a:cs typeface="Arial"/>
              <a:sym typeface="Arial"/>
            </a:endParaRPr>
          </a:p>
          <a:p>
            <a:pPr indent="-317500" lvl="1" marL="9144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Negotiated Developer/Automation plans with higher limits</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