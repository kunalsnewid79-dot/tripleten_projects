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Inter"/>
      <p:regular r:id="rId22"/>
      <p:bold r:id="rId23"/>
      <p:italic r:id="rId24"/>
      <p:boldItalic r:id="rId25"/>
    </p:embeddedFont>
    <p:embeddedFont>
      <p:font typeface="Inter ExtraBold"/>
      <p:bold r:id="rId26"/>
      <p:boldItalic r:id="rId27"/>
    </p:embeddedFont>
    <p:embeddedFont>
      <p:font typeface="Inter Medium"/>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g3AG1wccYoiQwGrvmWBTnJBCAG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Inter-regular.fntdata"/><Relationship Id="rId21" Type="http://schemas.openxmlformats.org/officeDocument/2006/relationships/slide" Target="slides/slide16.xml"/><Relationship Id="rId24" Type="http://schemas.openxmlformats.org/officeDocument/2006/relationships/font" Target="fonts/Inter-italic.fntdata"/><Relationship Id="rId23" Type="http://schemas.openxmlformats.org/officeDocument/2006/relationships/font" Target="fonts/Inter-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InterExtraBold-bold.fntdata"/><Relationship Id="rId25" Type="http://schemas.openxmlformats.org/officeDocument/2006/relationships/font" Target="fonts/Inter-boldItalic.fntdata"/><Relationship Id="rId28" Type="http://schemas.openxmlformats.org/officeDocument/2006/relationships/font" Target="fonts/InterMedium-regular.fntdata"/><Relationship Id="rId27" Type="http://schemas.openxmlformats.org/officeDocument/2006/relationships/font" Target="fonts/InterExtraBold-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Medium-boldItalic.fntdata"/><Relationship Id="rId30" Type="http://schemas.openxmlformats.org/officeDocument/2006/relationships/font" Target="fonts/InterMedium-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4700bee58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g3f4700bee58_2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f4700bee58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f4700bee58_2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4700bee58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3f4700bee58_2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4700bee58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3f4700bee58_2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409ac91f0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409ac91f0d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409ac91f0d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409ac91f0d9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4700bee58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f4700bee58_2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4700bee58_2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f4700bee58_2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409ac91f0d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409ac91f0d9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409ac91f0d9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409ac91f0d9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409ac91f0d9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409ac91f0d9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409ac91f0d9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409ac91f0d9_0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409ac91f0d9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409ac91f0d9_0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4700bee58_2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f4700bee58_2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4700bee58_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f4700bee58_2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9" name="Shape 9"/>
        <p:cNvGrpSpPr/>
        <p:nvPr/>
      </p:nvGrpSpPr>
      <p:grpSpPr>
        <a:xfrm>
          <a:off x="0" y="0"/>
          <a:ext cx="0" cy="0"/>
          <a:chOff x="0" y="0"/>
          <a:chExt cx="0" cy="0"/>
        </a:xfrm>
      </p:grpSpPr>
      <p:sp>
        <p:nvSpPr>
          <p:cNvPr id="10" name="Google Shape;10;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2" name="Shape 52"/>
        <p:cNvGrpSpPr/>
        <p:nvPr/>
      </p:nvGrpSpPr>
      <p:grpSpPr>
        <a:xfrm>
          <a:off x="0" y="0"/>
          <a:ext cx="0" cy="0"/>
          <a:chOff x="0" y="0"/>
          <a:chExt cx="0" cy="0"/>
        </a:xfrm>
      </p:grpSpPr>
      <p:sp>
        <p:nvSpPr>
          <p:cNvPr id="53" name="Google Shape;5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8" name="Shape 58"/>
        <p:cNvGrpSpPr/>
        <p:nvPr/>
      </p:nvGrpSpPr>
      <p:grpSpPr>
        <a:xfrm>
          <a:off x="0" y="0"/>
          <a:ext cx="0" cy="0"/>
          <a:chOff x="0" y="0"/>
          <a:chExt cx="0" cy="0"/>
        </a:xfrm>
      </p:grpSpPr>
      <p:sp>
        <p:nvSpPr>
          <p:cNvPr id="59" name="Google Shape;5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4 people)" type="secHead">
  <p:cSld name="SECTION_HEADER">
    <p:spTree>
      <p:nvGrpSpPr>
        <p:cNvPr id="60" name="Shape 60"/>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7" name="Shape 67"/>
        <p:cNvGrpSpPr/>
        <p:nvPr/>
      </p:nvGrpSpPr>
      <p:grpSpPr>
        <a:xfrm>
          <a:off x="0" y="0"/>
          <a:ext cx="0" cy="0"/>
          <a:chOff x="0" y="0"/>
          <a:chExt cx="0" cy="0"/>
        </a:xfrm>
      </p:grpSpPr>
      <p:sp>
        <p:nvSpPr>
          <p:cNvPr id="68" name="Google Shape;68;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sp>
        <p:nvSpPr>
          <p:cNvPr id="70" name="Google Shape;7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1" name="Shape 71"/>
        <p:cNvGrpSpPr/>
        <p:nvPr/>
      </p:nvGrpSpPr>
      <p:grpSpPr>
        <a:xfrm>
          <a:off x="0" y="0"/>
          <a:ext cx="0" cy="0"/>
          <a:chOff x="0" y="0"/>
          <a:chExt cx="0" cy="0"/>
        </a:xfrm>
      </p:grpSpPr>
      <p:sp>
        <p:nvSpPr>
          <p:cNvPr id="72" name="Google Shape;72;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5" name="Shape 75"/>
        <p:cNvGrpSpPr/>
        <p:nvPr/>
      </p:nvGrpSpPr>
      <p:grpSpPr>
        <a:xfrm>
          <a:off x="0" y="0"/>
          <a:ext cx="0" cy="0"/>
          <a:chOff x="0" y="0"/>
          <a:chExt cx="0" cy="0"/>
        </a:xfrm>
      </p:grpSpPr>
      <p:sp>
        <p:nvSpPr>
          <p:cNvPr id="76" name="Google Shape;76;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7" name="Shape 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2.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2F1EE"/>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4" name="Shape 54"/>
        <p:cNvGrpSpPr/>
        <p:nvPr/>
      </p:nvGrpSpPr>
      <p:grpSpPr>
        <a:xfrm>
          <a:off x="0" y="0"/>
          <a:ext cx="0" cy="0"/>
          <a:chOff x="0" y="0"/>
          <a:chExt cx="0" cy="0"/>
        </a:xfrm>
      </p:grpSpPr>
      <p:sp>
        <p:nvSpPr>
          <p:cNvPr id="55" name="Google Shape;5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60"/>
        </a:solidFill>
      </p:bgPr>
    </p:bg>
    <p:spTree>
      <p:nvGrpSpPr>
        <p:cNvPr id="81" name="Shape 81"/>
        <p:cNvGrpSpPr/>
        <p:nvPr/>
      </p:nvGrpSpPr>
      <p:grpSpPr>
        <a:xfrm>
          <a:off x="0" y="0"/>
          <a:ext cx="0" cy="0"/>
          <a:chOff x="0" y="0"/>
          <a:chExt cx="0" cy="0"/>
        </a:xfrm>
      </p:grpSpPr>
      <p:sp>
        <p:nvSpPr>
          <p:cNvPr id="82" name="Google Shape;82;p1"/>
          <p:cNvSpPr txBox="1"/>
          <p:nvPr>
            <p:ph idx="4294967295" type="ctrTitle"/>
          </p:nvPr>
        </p:nvSpPr>
        <p:spPr>
          <a:xfrm>
            <a:off x="64008" y="638300"/>
            <a:ext cx="8520600" cy="3742500"/>
          </a:xfrm>
          <a:prstGeom prst="rect">
            <a:avLst/>
          </a:prstGeom>
          <a:noFill/>
          <a:ln>
            <a:noFill/>
          </a:ln>
        </p:spPr>
        <p:txBody>
          <a:bodyPr anchorCtr="0" anchor="t" bIns="91425" lIns="91425" spcFirstLastPara="1" rIns="91425" wrap="square" tIns="0">
            <a:spAutoFit/>
          </a:bodyPr>
          <a:lstStyle/>
          <a:p>
            <a:pPr indent="0" lvl="0" marL="0" marR="0" rtl="0" algn="l">
              <a:lnSpc>
                <a:spcPct val="90000"/>
              </a:lnSpc>
              <a:spcBef>
                <a:spcPts val="0"/>
              </a:spcBef>
              <a:spcAft>
                <a:spcPts val="0"/>
              </a:spcAft>
              <a:buClr>
                <a:schemeClr val="dk1"/>
              </a:buClr>
              <a:buSzPts val="2800"/>
              <a:buFont typeface="Arial"/>
              <a:buNone/>
            </a:pPr>
            <a:r>
              <a:rPr b="0" i="0" lang="en" sz="5800" u="none" cap="none" strike="noStrike">
                <a:solidFill>
                  <a:srgbClr val="1A1A1A"/>
                </a:solidFill>
                <a:latin typeface="Inter ExtraBold"/>
                <a:ea typeface="Inter ExtraBold"/>
                <a:cs typeface="Inter ExtraBold"/>
                <a:sym typeface="Inter ExtraBold"/>
              </a:rPr>
              <a:t>AI Assisted Translation of English and Turkish Documents</a:t>
            </a:r>
            <a:endParaRPr b="0" i="0" sz="5800" u="none" cap="none" strike="noStrike">
              <a:solidFill>
                <a:srgbClr val="1A1A1A"/>
              </a:solidFill>
              <a:latin typeface="Inter ExtraBold"/>
              <a:ea typeface="Inter ExtraBold"/>
              <a:cs typeface="Inter ExtraBold"/>
              <a:sym typeface="Inter ExtraBold"/>
            </a:endParaRPr>
          </a:p>
          <a:p>
            <a:pPr indent="0" lvl="0" marL="0" marR="0" rtl="0" algn="l">
              <a:lnSpc>
                <a:spcPct val="100000"/>
              </a:lnSpc>
              <a:spcBef>
                <a:spcPts val="1000"/>
              </a:spcBef>
              <a:spcAft>
                <a:spcPts val="0"/>
              </a:spcAft>
              <a:buClr>
                <a:schemeClr val="dk1"/>
              </a:buClr>
              <a:buSzPts val="1100"/>
              <a:buFont typeface="Arial"/>
              <a:buNone/>
            </a:pPr>
            <a:r>
              <a:rPr b="0" i="0" lang="en" sz="2000" u="none" cap="none" strike="noStrike">
                <a:solidFill>
                  <a:srgbClr val="1A1A1A"/>
                </a:solidFill>
                <a:latin typeface="Inter"/>
                <a:ea typeface="Inter"/>
                <a:cs typeface="Inter"/>
                <a:sym typeface="Inter"/>
              </a:rPr>
              <a:t>Kunal Gaurav</a:t>
            </a:r>
            <a:endParaRPr b="0" i="0" sz="6000" u="none" cap="none" strike="noStrike">
              <a:solidFill>
                <a:srgbClr val="1A1A1A"/>
              </a:solidFill>
              <a:latin typeface="Inter ExtraBold"/>
              <a:ea typeface="Inter ExtraBold"/>
              <a:cs typeface="Inter ExtraBold"/>
              <a:sym typeface="Inter ExtraBold"/>
            </a:endParaRPr>
          </a:p>
        </p:txBody>
      </p:sp>
      <p:pic>
        <p:nvPicPr>
          <p:cNvPr id="83" name="Google Shape;83;p1"/>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84" name="Google Shape;84;p1"/>
          <p:cNvSpPr txBox="1"/>
          <p:nvPr>
            <p:ph idx="4294967295" type="subTitle"/>
          </p:nvPr>
        </p:nvSpPr>
        <p:spPr>
          <a:xfrm>
            <a:off x="152400" y="4600950"/>
            <a:ext cx="86868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chemeClr val="dk2"/>
              </a:buClr>
              <a:buSzPts val="1800"/>
              <a:buFont typeface="Arial"/>
              <a:buNone/>
            </a:pPr>
            <a:r>
              <a:t/>
            </a:r>
            <a:endParaRPr b="0" i="0" sz="1200" u="none" cap="none" strike="noStrike">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88" name="Shape 88"/>
        <p:cNvGrpSpPr/>
        <p:nvPr/>
      </p:nvGrpSpPr>
      <p:grpSpPr>
        <a:xfrm>
          <a:off x="0" y="0"/>
          <a:ext cx="0" cy="0"/>
          <a:chOff x="0" y="0"/>
          <a:chExt cx="0" cy="0"/>
        </a:xfrm>
      </p:grpSpPr>
      <p:sp>
        <p:nvSpPr>
          <p:cNvPr id="89" name="Google Shape;89;g3f4700bee58_2_7"/>
          <p:cNvSpPr txBox="1"/>
          <p:nvPr>
            <p:ph type="ctrTitle"/>
          </p:nvPr>
        </p:nvSpPr>
        <p:spPr>
          <a:xfrm>
            <a:off x="96875" y="150975"/>
            <a:ext cx="8520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1A1A1A"/>
                </a:solidFill>
                <a:latin typeface="Inter ExtraBold"/>
                <a:ea typeface="Inter ExtraBold"/>
                <a:cs typeface="Inter ExtraBold"/>
                <a:sym typeface="Inter ExtraBold"/>
              </a:rPr>
              <a:t>Problem</a:t>
            </a:r>
            <a:endParaRPr b="0" i="0" sz="2000" u="none" cap="none" strike="noStrike">
              <a:solidFill>
                <a:srgbClr val="1A1A1A"/>
              </a:solidFill>
              <a:latin typeface="Inter ExtraBold"/>
              <a:ea typeface="Inter ExtraBold"/>
              <a:cs typeface="Inter ExtraBold"/>
              <a:sym typeface="Inter ExtraBold"/>
            </a:endParaRPr>
          </a:p>
        </p:txBody>
      </p:sp>
      <p:sp>
        <p:nvSpPr>
          <p:cNvPr id="90" name="Google Shape;90;g3f4700bee58_2_7"/>
          <p:cNvSpPr txBox="1"/>
          <p:nvPr>
            <p:ph idx="1" type="subTitle"/>
          </p:nvPr>
        </p:nvSpPr>
        <p:spPr>
          <a:xfrm>
            <a:off x="96875" y="1188700"/>
            <a:ext cx="8520600" cy="3852600"/>
          </a:xfrm>
          <a:prstGeom prst="rect">
            <a:avLst/>
          </a:prstGeom>
          <a:noFill/>
          <a:ln>
            <a:noFill/>
          </a:ln>
        </p:spPr>
        <p:txBody>
          <a:bodyPr anchorCtr="0" anchor="b" bIns="91425" lIns="91425" spcFirstLastPara="1" rIns="91425" wrap="square" tIns="91425">
            <a:noAutofit/>
          </a:bodyPr>
          <a:lstStyle/>
          <a:p>
            <a:pPr indent="0" lvl="0" marL="914400" marR="0" rtl="0" algn="l">
              <a:lnSpc>
                <a:spcPct val="115000"/>
              </a:lnSpc>
              <a:spcBef>
                <a:spcPts val="1200"/>
              </a:spcBef>
              <a:spcAft>
                <a:spcPts val="0"/>
              </a:spcAft>
              <a:buClr>
                <a:srgbClr val="000000"/>
              </a:buClr>
              <a:buSzPts val="1600"/>
              <a:buFont typeface="Arial"/>
              <a:buNone/>
            </a:pPr>
            <a:r>
              <a:t/>
            </a:r>
            <a:endParaRPr b="0" i="0" sz="1600" u="none" cap="none" strike="noStrike">
              <a:solidFill>
                <a:srgbClr val="1A1A1A"/>
              </a:solidFill>
              <a:latin typeface="Inter"/>
              <a:ea typeface="Inter"/>
              <a:cs typeface="Inter"/>
              <a:sym typeface="Inter"/>
            </a:endParaRPr>
          </a:p>
          <a:p>
            <a:pPr indent="0" lvl="0" marL="914400" marR="0" rtl="0" algn="l">
              <a:lnSpc>
                <a:spcPct val="115000"/>
              </a:lnSpc>
              <a:spcBef>
                <a:spcPts val="1200"/>
              </a:spcBef>
              <a:spcAft>
                <a:spcPts val="0"/>
              </a:spcAft>
              <a:buClr>
                <a:srgbClr val="000000"/>
              </a:buClr>
              <a:buSzPts val="1600"/>
              <a:buFont typeface="Arial"/>
              <a:buNone/>
            </a:pPr>
            <a:r>
              <a:t/>
            </a:r>
            <a:endParaRPr b="0" i="0" sz="1600" u="none" cap="none" strike="noStrike">
              <a:solidFill>
                <a:srgbClr val="1A1A1A"/>
              </a:solidFill>
              <a:latin typeface="Inter"/>
              <a:ea typeface="Inter"/>
              <a:cs typeface="Inter"/>
              <a:sym typeface="Inter"/>
            </a:endParaRPr>
          </a:p>
          <a:p>
            <a:pPr indent="0" lvl="0" marL="914400" marR="0" rtl="0" algn="l">
              <a:lnSpc>
                <a:spcPct val="115000"/>
              </a:lnSpc>
              <a:spcBef>
                <a:spcPts val="1200"/>
              </a:spcBef>
              <a:spcAft>
                <a:spcPts val="0"/>
              </a:spcAft>
              <a:buClr>
                <a:srgbClr val="000000"/>
              </a:buClr>
              <a:buSzPts val="1600"/>
              <a:buFont typeface="Arial"/>
              <a:buNone/>
            </a:pPr>
            <a:r>
              <a:t/>
            </a:r>
            <a:endParaRPr b="0" i="0" sz="1600" u="none" cap="none" strike="noStrike">
              <a:solidFill>
                <a:srgbClr val="1A1A1A"/>
              </a:solidFill>
              <a:latin typeface="Inter"/>
              <a:ea typeface="Inter"/>
              <a:cs typeface="Inter"/>
              <a:sym typeface="Inter"/>
            </a:endParaRPr>
          </a:p>
          <a:p>
            <a:pPr indent="0" lvl="0" marL="914400" marR="0" rtl="0" algn="l">
              <a:lnSpc>
                <a:spcPct val="115000"/>
              </a:lnSpc>
              <a:spcBef>
                <a:spcPts val="1200"/>
              </a:spcBef>
              <a:spcAft>
                <a:spcPts val="0"/>
              </a:spcAft>
              <a:buClr>
                <a:srgbClr val="000000"/>
              </a:buClr>
              <a:buSzPts val="1600"/>
              <a:buFont typeface="Arial"/>
              <a:buNone/>
            </a:pPr>
            <a:r>
              <a:t/>
            </a:r>
            <a:endParaRPr b="0" i="0" sz="1600" u="none" cap="none" strike="noStrike">
              <a:solidFill>
                <a:srgbClr val="1A1A1A"/>
              </a:solidFill>
              <a:latin typeface="Inter"/>
              <a:ea typeface="Inter"/>
              <a:cs typeface="Inter"/>
              <a:sym typeface="Inter"/>
            </a:endParaRPr>
          </a:p>
          <a:p>
            <a:pPr indent="0" lvl="0" marL="914400" marR="0" rtl="0" algn="l">
              <a:lnSpc>
                <a:spcPct val="115000"/>
              </a:lnSpc>
              <a:spcBef>
                <a:spcPts val="1200"/>
              </a:spcBef>
              <a:spcAft>
                <a:spcPts val="0"/>
              </a:spcAft>
              <a:buClr>
                <a:srgbClr val="000000"/>
              </a:buClr>
              <a:buSzPts val="1600"/>
              <a:buFont typeface="Arial"/>
              <a:buNone/>
            </a:pPr>
            <a:r>
              <a:t/>
            </a:r>
            <a:endParaRPr b="0" i="0" sz="1600" u="none" cap="none" strike="noStrike">
              <a:solidFill>
                <a:srgbClr val="1A1A1A"/>
              </a:solidFill>
              <a:latin typeface="Inter"/>
              <a:ea typeface="Inter"/>
              <a:cs typeface="Inter"/>
              <a:sym typeface="Inter"/>
            </a:endParaRPr>
          </a:p>
          <a:p>
            <a:pPr indent="-330200" lvl="0" marL="457200" marR="0" rtl="0" algn="l">
              <a:lnSpc>
                <a:spcPct val="115000"/>
              </a:lnSpc>
              <a:spcBef>
                <a:spcPts val="1200"/>
              </a:spcBef>
              <a:spcAft>
                <a:spcPts val="0"/>
              </a:spcAft>
              <a:buClr>
                <a:srgbClr val="1A1A1A"/>
              </a:buClr>
              <a:buSzPts val="1600"/>
              <a:buFont typeface="Inter"/>
              <a:buChar char="●"/>
            </a:pPr>
            <a:r>
              <a:rPr lang="en" sz="1600">
                <a:solidFill>
                  <a:srgbClr val="1A1A1A"/>
                </a:solidFill>
                <a:latin typeface="Inter"/>
                <a:ea typeface="Inter"/>
                <a:cs typeface="Inter"/>
                <a:sym typeface="Inter"/>
              </a:rPr>
              <a:t>A company</a:t>
            </a:r>
            <a:r>
              <a:rPr b="0" i="0" lang="en" sz="1600" u="none" cap="none" strike="noStrike">
                <a:solidFill>
                  <a:srgbClr val="1A1A1A"/>
                </a:solidFill>
                <a:latin typeface="Inter"/>
                <a:ea typeface="Inter"/>
                <a:cs typeface="Inter"/>
                <a:sym typeface="Inter"/>
              </a:rPr>
              <a:t> currently manually translates documents from English to Turkish and vice versa and this process is time consuming and prone to human errors.  </a:t>
            </a:r>
            <a:endParaRPr b="0" i="0" sz="1600" u="none" cap="none" strike="noStrike">
              <a:solidFill>
                <a:srgbClr val="1A1A1A"/>
              </a:solidFill>
              <a:latin typeface="Inter"/>
              <a:ea typeface="Inter"/>
              <a:cs typeface="Inter"/>
              <a:sym typeface="Inter"/>
            </a:endParaRPr>
          </a:p>
          <a:p>
            <a:pPr indent="-330200" lvl="0" marL="457200" marR="0" rtl="0" algn="l">
              <a:lnSpc>
                <a:spcPct val="115000"/>
              </a:lnSpc>
              <a:spcBef>
                <a:spcPts val="0"/>
              </a:spcBef>
              <a:spcAft>
                <a:spcPts val="0"/>
              </a:spcAft>
              <a:buClr>
                <a:srgbClr val="1A1A1A"/>
              </a:buClr>
              <a:buSzPts val="1600"/>
              <a:buFont typeface="Inter"/>
              <a:buChar char="●"/>
            </a:pPr>
            <a:r>
              <a:rPr b="0" i="0" lang="en" sz="1600" u="none" cap="none" strike="noStrike">
                <a:solidFill>
                  <a:srgbClr val="1A1A1A"/>
                </a:solidFill>
                <a:latin typeface="Inter"/>
                <a:ea typeface="Inter"/>
                <a:cs typeface="Inter"/>
                <a:sym typeface="Inter"/>
              </a:rPr>
              <a:t>The translators at </a:t>
            </a:r>
            <a:r>
              <a:rPr lang="en" sz="1600">
                <a:solidFill>
                  <a:srgbClr val="1A1A1A"/>
                </a:solidFill>
                <a:latin typeface="Inter"/>
                <a:ea typeface="Inter"/>
                <a:cs typeface="Inter"/>
                <a:sym typeface="Inter"/>
              </a:rPr>
              <a:t>this company</a:t>
            </a:r>
            <a:r>
              <a:rPr b="0" i="0" lang="en" sz="1600" u="none" cap="none" strike="noStrike">
                <a:solidFill>
                  <a:srgbClr val="1A1A1A"/>
                </a:solidFill>
                <a:latin typeface="Inter"/>
                <a:ea typeface="Inter"/>
                <a:cs typeface="Inter"/>
                <a:sym typeface="Inter"/>
              </a:rPr>
              <a:t> have the task of Translating documents from English to Turkish and vice versa</a:t>
            </a:r>
            <a:endParaRPr b="0" i="0" sz="1600" u="none" cap="none" strike="noStrike">
              <a:solidFill>
                <a:srgbClr val="1A1A1A"/>
              </a:solidFill>
              <a:latin typeface="Inter"/>
              <a:ea typeface="Inter"/>
              <a:cs typeface="Inter"/>
              <a:sym typeface="Inter"/>
            </a:endParaRPr>
          </a:p>
          <a:p>
            <a:pPr indent="-330200" lvl="0" marL="457200" marR="0" rtl="0" algn="l">
              <a:lnSpc>
                <a:spcPct val="115000"/>
              </a:lnSpc>
              <a:spcBef>
                <a:spcPts val="0"/>
              </a:spcBef>
              <a:spcAft>
                <a:spcPts val="0"/>
              </a:spcAft>
              <a:buClr>
                <a:srgbClr val="1A1A1A"/>
              </a:buClr>
              <a:buSzPts val="1600"/>
              <a:buFont typeface="Inter"/>
              <a:buChar char="●"/>
            </a:pPr>
            <a:r>
              <a:rPr b="0" i="0" lang="en" sz="1600" u="none" cap="none" strike="noStrike">
                <a:solidFill>
                  <a:srgbClr val="1A1A1A"/>
                </a:solidFill>
                <a:latin typeface="Inter"/>
                <a:ea typeface="Inter"/>
                <a:cs typeface="Inter"/>
                <a:sym typeface="Inter"/>
              </a:rPr>
              <a:t>This process can sometimes become time consuming especially when there are a lot of documents to translate or when the documents are illegible</a:t>
            </a:r>
            <a:endParaRPr b="0" i="0" sz="1600" u="none" cap="none" strike="noStrike">
              <a:solidFill>
                <a:srgbClr val="1A1A1A"/>
              </a:solidFill>
              <a:latin typeface="Inter"/>
              <a:ea typeface="Inter"/>
              <a:cs typeface="Inter"/>
              <a:sym typeface="Inter"/>
            </a:endParaRPr>
          </a:p>
          <a:p>
            <a:pPr indent="-330200" lvl="0" marL="457200" marR="0" rtl="0" algn="l">
              <a:lnSpc>
                <a:spcPct val="115000"/>
              </a:lnSpc>
              <a:spcBef>
                <a:spcPts val="0"/>
              </a:spcBef>
              <a:spcAft>
                <a:spcPts val="0"/>
              </a:spcAft>
              <a:buClr>
                <a:srgbClr val="1A1A1A"/>
              </a:buClr>
              <a:buSzPts val="1600"/>
              <a:buFont typeface="Inter"/>
              <a:buChar char="●"/>
            </a:pPr>
            <a:r>
              <a:rPr b="0" i="0" lang="en" sz="1600" u="none" cap="none" strike="noStrike">
                <a:solidFill>
                  <a:srgbClr val="1A1A1A"/>
                </a:solidFill>
                <a:latin typeface="Inter"/>
                <a:ea typeface="Inter"/>
                <a:cs typeface="Inter"/>
                <a:sym typeface="Inter"/>
              </a:rPr>
              <a:t>Sometimes the customer provides images of documents that are difficult to read and translate</a:t>
            </a:r>
            <a:endParaRPr b="0" i="0" sz="1600" u="none" cap="none" strike="noStrike">
              <a:solidFill>
                <a:srgbClr val="1A1A1A"/>
              </a:solidFill>
              <a:latin typeface="Inter"/>
              <a:ea typeface="Inter"/>
              <a:cs typeface="Inter"/>
              <a:sym typeface="Inter"/>
            </a:endParaRPr>
          </a:p>
          <a:p>
            <a:pPr indent="-330200" lvl="0" marL="457200" marR="0" rtl="0" algn="l">
              <a:lnSpc>
                <a:spcPct val="115000"/>
              </a:lnSpc>
              <a:spcBef>
                <a:spcPts val="0"/>
              </a:spcBef>
              <a:spcAft>
                <a:spcPts val="0"/>
              </a:spcAft>
              <a:buClr>
                <a:srgbClr val="1A1A1A"/>
              </a:buClr>
              <a:buSzPts val="1600"/>
              <a:buFont typeface="Inter"/>
              <a:buChar char="●"/>
            </a:pPr>
            <a:r>
              <a:rPr lang="en" sz="1600">
                <a:solidFill>
                  <a:srgbClr val="1A1A1A"/>
                </a:solidFill>
                <a:latin typeface="Inter"/>
                <a:ea typeface="Inter"/>
                <a:cs typeface="Inter"/>
                <a:sym typeface="Inter"/>
              </a:rPr>
              <a:t>The company</a:t>
            </a:r>
            <a:r>
              <a:rPr b="0" i="0" lang="en" sz="1600" u="none" cap="none" strike="noStrike">
                <a:solidFill>
                  <a:srgbClr val="1A1A1A"/>
                </a:solidFill>
                <a:latin typeface="Inter"/>
                <a:ea typeface="Inter"/>
                <a:cs typeface="Inter"/>
                <a:sym typeface="Inter"/>
              </a:rPr>
              <a:t> needs an automated way to translate the documents from English to Turkish and vice versa</a:t>
            </a:r>
            <a:endParaRPr b="0" i="0" sz="1600" u="none" cap="none" strike="noStrike">
              <a:solidFill>
                <a:srgbClr val="1A1A1A"/>
              </a:solidFill>
              <a:latin typeface="Inter"/>
              <a:ea typeface="Inter"/>
              <a:cs typeface="Inter"/>
              <a:sym typeface="Inter"/>
            </a:endParaRPr>
          </a:p>
          <a:p>
            <a:pPr indent="-330200" lvl="0" marL="457200" marR="0" rtl="0" algn="l">
              <a:lnSpc>
                <a:spcPct val="115000"/>
              </a:lnSpc>
              <a:spcBef>
                <a:spcPts val="0"/>
              </a:spcBef>
              <a:spcAft>
                <a:spcPts val="0"/>
              </a:spcAft>
              <a:buClr>
                <a:srgbClr val="1A1A1A"/>
              </a:buClr>
              <a:buSzPts val="1600"/>
              <a:buFont typeface="Inter"/>
              <a:buChar char="●"/>
            </a:pPr>
            <a:r>
              <a:rPr b="0" i="0" lang="en" sz="1600" u="none" cap="none" strike="noStrike">
                <a:solidFill>
                  <a:srgbClr val="1A1A1A"/>
                </a:solidFill>
                <a:latin typeface="Inter"/>
                <a:ea typeface="Inter"/>
                <a:cs typeface="Inter"/>
                <a:sym typeface="Inter"/>
              </a:rPr>
              <a:t>This Automated workflow should save the translators time and produce accurate translations.</a:t>
            </a:r>
            <a:endParaRPr b="0" i="0" sz="1600" u="none" cap="none" strike="noStrike">
              <a:solidFill>
                <a:srgbClr val="1A1A1A"/>
              </a:solidFill>
              <a:latin typeface="Inter"/>
              <a:ea typeface="Inter"/>
              <a:cs typeface="Inter"/>
              <a:sym typeface="Inter"/>
            </a:endParaRPr>
          </a:p>
          <a:p>
            <a:pPr indent="0" lvl="0" marL="914400" marR="0" rtl="0" algn="l">
              <a:lnSpc>
                <a:spcPct val="115000"/>
              </a:lnSpc>
              <a:spcBef>
                <a:spcPts val="1200"/>
              </a:spcBef>
              <a:spcAft>
                <a:spcPts val="1200"/>
              </a:spcAft>
              <a:buClr>
                <a:srgbClr val="000000"/>
              </a:buClr>
              <a:buSzPts val="1600"/>
              <a:buFont typeface="Arial"/>
              <a:buNone/>
            </a:pPr>
            <a:r>
              <a:t/>
            </a:r>
            <a:endParaRPr b="0" i="0" sz="1600" u="none" cap="none" strike="noStrike">
              <a:solidFill>
                <a:srgbClr val="1A1A1A"/>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f4700bee58_2_12"/>
          <p:cNvSpPr txBox="1"/>
          <p:nvPr/>
        </p:nvSpPr>
        <p:spPr>
          <a:xfrm>
            <a:off x="68400" y="1602775"/>
            <a:ext cx="90756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200"/>
              <a:buFont typeface="Arial"/>
              <a:buNone/>
            </a:pPr>
            <a:r>
              <a:rPr b="0" i="0" lang="en" sz="1200" u="none" cap="none" strike="noStrike">
                <a:solidFill>
                  <a:srgbClr val="1A1A1A"/>
                </a:solidFill>
                <a:latin typeface="Inter"/>
                <a:ea typeface="Inter"/>
                <a:cs typeface="Inter"/>
                <a:sym typeface="Inter"/>
              </a:rPr>
              <a:t>N8n AI tool is used to create AI Automated workflows that translate the documents and require human interaction in the final stages</a:t>
            </a:r>
            <a:endParaRPr b="0" i="0" sz="1200" u="none" cap="none" strike="noStrike">
              <a:solidFill>
                <a:srgbClr val="1A1A1A"/>
              </a:solidFill>
              <a:latin typeface="Inter"/>
              <a:ea typeface="Inter"/>
              <a:cs typeface="Inter"/>
              <a:sym typeface="Inter"/>
            </a:endParaRPr>
          </a:p>
          <a:p>
            <a:pPr indent="-304800" lvl="0" marL="457200" marR="0" rtl="0" algn="l">
              <a:lnSpc>
                <a:spcPct val="115000"/>
              </a:lnSpc>
              <a:spcBef>
                <a:spcPts val="1200"/>
              </a:spcBef>
              <a:spcAft>
                <a:spcPts val="0"/>
              </a:spcAft>
              <a:buClr>
                <a:srgbClr val="1A1A1A"/>
              </a:buClr>
              <a:buSzPts val="1200"/>
              <a:buFont typeface="Inter"/>
              <a:buChar char="●"/>
            </a:pPr>
            <a:r>
              <a:rPr b="0" i="0" lang="en" sz="1200" u="none" cap="none" strike="noStrike">
                <a:solidFill>
                  <a:srgbClr val="1A1A1A"/>
                </a:solidFill>
                <a:latin typeface="Inter"/>
                <a:ea typeface="Inter"/>
                <a:cs typeface="Inter"/>
                <a:sym typeface="Inter"/>
              </a:rPr>
              <a:t>2 Workflows are created  - The Native pdf translation workflow and The OCR translation workflow</a:t>
            </a:r>
            <a:endParaRPr b="0" i="0" sz="1200" u="none" cap="none" strike="noStrike">
              <a:solidFill>
                <a:srgbClr val="1A1A1A"/>
              </a:solidFill>
              <a:latin typeface="Inter"/>
              <a:ea typeface="Inter"/>
              <a:cs typeface="Inter"/>
              <a:sym typeface="Inter"/>
            </a:endParaRPr>
          </a:p>
          <a:p>
            <a:pPr indent="-304800" lvl="0" marL="457200" marR="0" rtl="0" algn="l">
              <a:lnSpc>
                <a:spcPct val="115000"/>
              </a:lnSpc>
              <a:spcBef>
                <a:spcPts val="0"/>
              </a:spcBef>
              <a:spcAft>
                <a:spcPts val="0"/>
              </a:spcAft>
              <a:buClr>
                <a:srgbClr val="1A1A1A"/>
              </a:buClr>
              <a:buSzPts val="1200"/>
              <a:buFont typeface="Inter"/>
              <a:buChar char="●"/>
            </a:pPr>
            <a:r>
              <a:rPr b="0" i="0" lang="en" sz="1200" u="none" cap="none" strike="noStrike">
                <a:solidFill>
                  <a:srgbClr val="1A1A1A"/>
                </a:solidFill>
                <a:latin typeface="Inter"/>
                <a:ea typeface="Inter"/>
                <a:cs typeface="Inter"/>
                <a:sym typeface="Inter"/>
              </a:rPr>
              <a:t>The Native pdf translation workflow takes a standard PDF file and translates it while keeping the original file’s layout and formatting intact. PII is implemented by the Lara Translate node which runs in “Incognito” mode.  However, it can’t recognize the content in image PDF files. For that we have the OCR workflow </a:t>
            </a:r>
            <a:endParaRPr b="0" i="0" sz="1200" u="none" cap="none" strike="noStrike">
              <a:solidFill>
                <a:srgbClr val="1A1A1A"/>
              </a:solidFill>
              <a:latin typeface="Inter"/>
              <a:ea typeface="Inter"/>
              <a:cs typeface="Inter"/>
              <a:sym typeface="Inter"/>
            </a:endParaRPr>
          </a:p>
          <a:p>
            <a:pPr indent="0" lvl="0" marL="914400" marR="0" rtl="0" algn="l">
              <a:lnSpc>
                <a:spcPct val="115000"/>
              </a:lnSpc>
              <a:spcBef>
                <a:spcPts val="1200"/>
              </a:spcBef>
              <a:spcAft>
                <a:spcPts val="0"/>
              </a:spcAft>
              <a:buClr>
                <a:srgbClr val="000000"/>
              </a:buClr>
              <a:buSzPts val="1200"/>
              <a:buFont typeface="Arial"/>
              <a:buNone/>
            </a:pPr>
            <a:r>
              <a:t/>
            </a:r>
            <a:endParaRPr b="0" i="0" sz="1200" u="none" cap="none" strike="noStrike">
              <a:solidFill>
                <a:srgbClr val="1A1A1A"/>
              </a:solidFill>
              <a:latin typeface="Inter"/>
              <a:ea typeface="Inter"/>
              <a:cs typeface="Inter"/>
              <a:sym typeface="Inter"/>
            </a:endParaRPr>
          </a:p>
          <a:p>
            <a:pPr indent="-304800" lvl="0" marL="457200" marR="0" rtl="0" algn="l">
              <a:lnSpc>
                <a:spcPct val="115000"/>
              </a:lnSpc>
              <a:spcBef>
                <a:spcPts val="1200"/>
              </a:spcBef>
              <a:spcAft>
                <a:spcPts val="0"/>
              </a:spcAft>
              <a:buClr>
                <a:srgbClr val="1A1A1A"/>
              </a:buClr>
              <a:buSzPts val="1200"/>
              <a:buFont typeface="Inter"/>
              <a:buChar char="●"/>
            </a:pPr>
            <a:r>
              <a:rPr b="0" i="0" lang="en" sz="1200" u="none" cap="none" strike="noStrike">
                <a:solidFill>
                  <a:srgbClr val="1A1A1A"/>
                </a:solidFill>
                <a:latin typeface="Inter"/>
                <a:ea typeface="Inter"/>
                <a:cs typeface="Inter"/>
                <a:sym typeface="Inter"/>
              </a:rPr>
              <a:t>The OCR translation workflow uses OCR technology on an image that has been generated by taking a picture of the document. This step outputs a pdf file that has a different format than the original image PDF file. PII is implemented by the AI module. There is a change in the layout format of the image file.</a:t>
            </a:r>
            <a:endParaRPr b="0" i="0" sz="1200" u="none" cap="none" strike="noStrike">
              <a:solidFill>
                <a:srgbClr val="1A1A1A"/>
              </a:solidFill>
              <a:latin typeface="Inter"/>
              <a:ea typeface="Inter"/>
              <a:cs typeface="Inter"/>
              <a:sym typeface="Inter"/>
            </a:endParaRPr>
          </a:p>
          <a:p>
            <a:pPr indent="0" lvl="0" marL="914400" marR="0" rtl="0" algn="l">
              <a:lnSpc>
                <a:spcPct val="115000"/>
              </a:lnSpc>
              <a:spcBef>
                <a:spcPts val="1200"/>
              </a:spcBef>
              <a:spcAft>
                <a:spcPts val="1200"/>
              </a:spcAft>
              <a:buClr>
                <a:srgbClr val="000000"/>
              </a:buClr>
              <a:buSzPts val="1200"/>
              <a:buFont typeface="Arial"/>
              <a:buNone/>
            </a:pPr>
            <a:r>
              <a:t/>
            </a:r>
            <a:endParaRPr b="0" i="0" sz="1200" u="none" cap="none" strike="noStrike">
              <a:solidFill>
                <a:srgbClr val="1A1A1A"/>
              </a:solidFill>
              <a:latin typeface="Inter"/>
              <a:ea typeface="Inter"/>
              <a:cs typeface="Inter"/>
              <a:sym typeface="Inter"/>
            </a:endParaRPr>
          </a:p>
        </p:txBody>
      </p:sp>
      <p:sp>
        <p:nvSpPr>
          <p:cNvPr id="96" name="Google Shape;96;g3f4700bee58_2_12"/>
          <p:cNvSpPr txBox="1"/>
          <p:nvPr/>
        </p:nvSpPr>
        <p:spPr>
          <a:xfrm>
            <a:off x="2541150" y="835625"/>
            <a:ext cx="39453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Solution</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f4700bee58_2_17"/>
          <p:cNvSpPr txBox="1"/>
          <p:nvPr/>
        </p:nvSpPr>
        <p:spPr>
          <a:xfrm>
            <a:off x="356175" y="84875"/>
            <a:ext cx="69315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000000"/>
                </a:solidFill>
                <a:latin typeface="Arial"/>
                <a:ea typeface="Arial"/>
                <a:cs typeface="Arial"/>
                <a:sym typeface="Arial"/>
              </a:rPr>
              <a:t>Native PDF Translation Flowchart</a:t>
            </a:r>
            <a:endParaRPr b="0" i="0" sz="2500" u="none" cap="none" strike="noStrike">
              <a:solidFill>
                <a:srgbClr val="000000"/>
              </a:solidFill>
              <a:latin typeface="Arial"/>
              <a:ea typeface="Arial"/>
              <a:cs typeface="Arial"/>
              <a:sym typeface="Arial"/>
            </a:endParaRPr>
          </a:p>
        </p:txBody>
      </p:sp>
      <p:sp>
        <p:nvSpPr>
          <p:cNvPr id="102" name="Google Shape;102;g3f4700bee58_2_17"/>
          <p:cNvSpPr txBox="1"/>
          <p:nvPr/>
        </p:nvSpPr>
        <p:spPr>
          <a:xfrm>
            <a:off x="509175" y="795600"/>
            <a:ext cx="8040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3" name="Google Shape;103;g3f4700bee58_2_17" title="Native_pdf_translation.png"/>
          <p:cNvPicPr preferRelativeResize="0"/>
          <p:nvPr/>
        </p:nvPicPr>
        <p:blipFill rotWithShape="1">
          <a:blip r:embed="rId3">
            <a:alphaModFix/>
          </a:blip>
          <a:srcRect b="0" l="0" r="0" t="0"/>
          <a:stretch/>
        </p:blipFill>
        <p:spPr>
          <a:xfrm>
            <a:off x="152400" y="726050"/>
            <a:ext cx="8005274" cy="42650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f4700bee58_2_23"/>
          <p:cNvSpPr txBox="1"/>
          <p:nvPr/>
        </p:nvSpPr>
        <p:spPr>
          <a:xfrm>
            <a:off x="356175" y="84875"/>
            <a:ext cx="69315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000000"/>
                </a:solidFill>
                <a:latin typeface="Arial"/>
                <a:ea typeface="Arial"/>
                <a:cs typeface="Arial"/>
                <a:sym typeface="Arial"/>
              </a:rPr>
              <a:t>Native PDF Translation Workflow </a:t>
            </a:r>
            <a:endParaRPr b="0" i="0" sz="2500" u="none" cap="none" strike="noStrike">
              <a:solidFill>
                <a:srgbClr val="000000"/>
              </a:solidFill>
              <a:latin typeface="Arial"/>
              <a:ea typeface="Arial"/>
              <a:cs typeface="Arial"/>
              <a:sym typeface="Arial"/>
            </a:endParaRPr>
          </a:p>
        </p:txBody>
      </p:sp>
      <p:sp>
        <p:nvSpPr>
          <p:cNvPr id="109" name="Google Shape;109;g3f4700bee58_2_23"/>
          <p:cNvSpPr txBox="1"/>
          <p:nvPr/>
        </p:nvSpPr>
        <p:spPr>
          <a:xfrm>
            <a:off x="509175" y="795600"/>
            <a:ext cx="8040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0" name="Google Shape;110;g3f4700bee58_2_23" title="NativePDFTranslator .png"/>
          <p:cNvPicPr preferRelativeResize="0"/>
          <p:nvPr/>
        </p:nvPicPr>
        <p:blipFill rotWithShape="1">
          <a:blip r:embed="rId3">
            <a:alphaModFix/>
          </a:blip>
          <a:srcRect b="0" l="0" r="0" t="0"/>
          <a:stretch/>
        </p:blipFill>
        <p:spPr>
          <a:xfrm>
            <a:off x="864725" y="1163275"/>
            <a:ext cx="7166822" cy="36429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409ac91f0d9_0_0"/>
          <p:cNvSpPr txBox="1"/>
          <p:nvPr/>
        </p:nvSpPr>
        <p:spPr>
          <a:xfrm>
            <a:off x="3306950" y="249900"/>
            <a:ext cx="334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Original PDF Document:</a:t>
            </a:r>
            <a:endParaRPr b="0" i="0" sz="1400" u="none" cap="none" strike="noStrike">
              <a:solidFill>
                <a:srgbClr val="000000"/>
              </a:solidFill>
              <a:latin typeface="Arial"/>
              <a:ea typeface="Arial"/>
              <a:cs typeface="Arial"/>
              <a:sym typeface="Arial"/>
            </a:endParaRPr>
          </a:p>
        </p:txBody>
      </p:sp>
      <p:pic>
        <p:nvPicPr>
          <p:cNvPr id="116" name="Google Shape;116;g409ac91f0d9_0_0" title="PDF_native_org.png"/>
          <p:cNvPicPr preferRelativeResize="0"/>
          <p:nvPr/>
        </p:nvPicPr>
        <p:blipFill rotWithShape="1">
          <a:blip r:embed="rId3">
            <a:alphaModFix/>
          </a:blip>
          <a:srcRect b="0" l="0" r="0" t="0"/>
          <a:stretch/>
        </p:blipFill>
        <p:spPr>
          <a:xfrm>
            <a:off x="152400" y="802500"/>
            <a:ext cx="4982987" cy="41885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409ac91f0d9_0_29"/>
          <p:cNvSpPr txBox="1"/>
          <p:nvPr/>
        </p:nvSpPr>
        <p:spPr>
          <a:xfrm>
            <a:off x="3888125" y="389400"/>
            <a:ext cx="334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Translated PDF Document: </a:t>
            </a:r>
            <a:endParaRPr b="0" i="0" sz="1400" u="none" cap="none" strike="noStrike">
              <a:solidFill>
                <a:srgbClr val="000000"/>
              </a:solidFill>
              <a:latin typeface="Arial"/>
              <a:ea typeface="Arial"/>
              <a:cs typeface="Arial"/>
              <a:sym typeface="Arial"/>
            </a:endParaRPr>
          </a:p>
        </p:txBody>
      </p:sp>
      <p:pic>
        <p:nvPicPr>
          <p:cNvPr id="122" name="Google Shape;122;g409ac91f0d9_0_29" title="PDF_native_translated.png"/>
          <p:cNvPicPr preferRelativeResize="0"/>
          <p:nvPr/>
        </p:nvPicPr>
        <p:blipFill rotWithShape="1">
          <a:blip r:embed="rId3">
            <a:alphaModFix/>
          </a:blip>
          <a:srcRect b="0" l="0" r="0" t="0"/>
          <a:stretch/>
        </p:blipFill>
        <p:spPr>
          <a:xfrm>
            <a:off x="152400" y="942000"/>
            <a:ext cx="4688744" cy="404910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f4700bee58_2_29"/>
          <p:cNvSpPr txBox="1"/>
          <p:nvPr/>
        </p:nvSpPr>
        <p:spPr>
          <a:xfrm>
            <a:off x="212150" y="381875"/>
            <a:ext cx="8952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000000"/>
                </a:solidFill>
                <a:latin typeface="Arial"/>
                <a:ea typeface="Arial"/>
                <a:cs typeface="Arial"/>
                <a:sym typeface="Arial"/>
              </a:rPr>
              <a:t>OCR Translation Flowchart</a:t>
            </a:r>
            <a:endParaRPr b="0" i="0" sz="2500" u="none" cap="none" strike="noStrike">
              <a:solidFill>
                <a:srgbClr val="000000"/>
              </a:solidFill>
              <a:latin typeface="Arial"/>
              <a:ea typeface="Arial"/>
              <a:cs typeface="Arial"/>
              <a:sym typeface="Arial"/>
            </a:endParaRPr>
          </a:p>
        </p:txBody>
      </p:sp>
      <p:pic>
        <p:nvPicPr>
          <p:cNvPr id="128" name="Google Shape;128;g3f4700bee58_2_29" title="OCR_pdf_translation.png"/>
          <p:cNvPicPr preferRelativeResize="0"/>
          <p:nvPr/>
        </p:nvPicPr>
        <p:blipFill rotWithShape="1">
          <a:blip r:embed="rId3">
            <a:alphaModFix/>
          </a:blip>
          <a:srcRect b="0" l="0" r="0" t="0"/>
          <a:stretch/>
        </p:blipFill>
        <p:spPr>
          <a:xfrm>
            <a:off x="152400" y="1103675"/>
            <a:ext cx="8579149" cy="388742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f4700bee58_2_34"/>
          <p:cNvSpPr txBox="1"/>
          <p:nvPr/>
        </p:nvSpPr>
        <p:spPr>
          <a:xfrm>
            <a:off x="212150" y="381875"/>
            <a:ext cx="8952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000000"/>
                </a:solidFill>
                <a:latin typeface="Arial"/>
                <a:ea typeface="Arial"/>
                <a:cs typeface="Arial"/>
                <a:sym typeface="Arial"/>
              </a:rPr>
              <a:t>OCR Translation Workflow </a:t>
            </a:r>
            <a:endParaRPr b="0" i="0" sz="2500" u="none" cap="none" strike="noStrike">
              <a:solidFill>
                <a:srgbClr val="000000"/>
              </a:solidFill>
              <a:latin typeface="Arial"/>
              <a:ea typeface="Arial"/>
              <a:cs typeface="Arial"/>
              <a:sym typeface="Arial"/>
            </a:endParaRPr>
          </a:p>
        </p:txBody>
      </p:sp>
      <p:pic>
        <p:nvPicPr>
          <p:cNvPr id="134" name="Google Shape;134;g3f4700bee58_2_34" title="NativeOCRTranslator.png"/>
          <p:cNvPicPr preferRelativeResize="0"/>
          <p:nvPr/>
        </p:nvPicPr>
        <p:blipFill rotWithShape="1">
          <a:blip r:embed="rId3">
            <a:alphaModFix/>
          </a:blip>
          <a:srcRect b="0" l="0" r="0" t="0"/>
          <a:stretch/>
        </p:blipFill>
        <p:spPr>
          <a:xfrm>
            <a:off x="330500" y="1055725"/>
            <a:ext cx="7977405" cy="38874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409ac91f0d9_0_58"/>
          <p:cNvSpPr txBox="1"/>
          <p:nvPr/>
        </p:nvSpPr>
        <p:spPr>
          <a:xfrm>
            <a:off x="3306950" y="470750"/>
            <a:ext cx="334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Original Image document:</a:t>
            </a:r>
            <a:endParaRPr b="0" i="0" sz="1400" u="none" cap="none" strike="noStrike">
              <a:solidFill>
                <a:srgbClr val="000000"/>
              </a:solidFill>
              <a:latin typeface="Arial"/>
              <a:ea typeface="Arial"/>
              <a:cs typeface="Arial"/>
              <a:sym typeface="Arial"/>
            </a:endParaRPr>
          </a:p>
        </p:txBody>
      </p:sp>
      <p:pic>
        <p:nvPicPr>
          <p:cNvPr id="140" name="Google Shape;140;g409ac91f0d9_0_58" title="OCR_original.png"/>
          <p:cNvPicPr preferRelativeResize="0"/>
          <p:nvPr/>
        </p:nvPicPr>
        <p:blipFill rotWithShape="1">
          <a:blip r:embed="rId3">
            <a:alphaModFix/>
          </a:blip>
          <a:srcRect b="0" l="0" r="0" t="0"/>
          <a:stretch/>
        </p:blipFill>
        <p:spPr>
          <a:xfrm>
            <a:off x="152400" y="1023350"/>
            <a:ext cx="4553438" cy="3967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409ac91f0d9_0_87"/>
          <p:cNvSpPr txBox="1"/>
          <p:nvPr/>
        </p:nvSpPr>
        <p:spPr>
          <a:xfrm>
            <a:off x="3423200" y="517250"/>
            <a:ext cx="334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Translated Image document:</a:t>
            </a:r>
            <a:endParaRPr b="0" i="0" sz="1400" u="none" cap="none" strike="noStrike">
              <a:solidFill>
                <a:srgbClr val="000000"/>
              </a:solidFill>
              <a:latin typeface="Arial"/>
              <a:ea typeface="Arial"/>
              <a:cs typeface="Arial"/>
              <a:sym typeface="Arial"/>
            </a:endParaRPr>
          </a:p>
        </p:txBody>
      </p:sp>
      <p:pic>
        <p:nvPicPr>
          <p:cNvPr id="146" name="Google Shape;146;g409ac91f0d9_0_87" title="OCR_translated.png"/>
          <p:cNvPicPr preferRelativeResize="0"/>
          <p:nvPr/>
        </p:nvPicPr>
        <p:blipFill rotWithShape="1">
          <a:blip r:embed="rId3">
            <a:alphaModFix/>
          </a:blip>
          <a:srcRect b="0" l="0" r="0" t="0"/>
          <a:stretch/>
        </p:blipFill>
        <p:spPr>
          <a:xfrm>
            <a:off x="152400" y="1069850"/>
            <a:ext cx="8839200" cy="33257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409ac91f0d9_0_116"/>
          <p:cNvSpPr txBox="1"/>
          <p:nvPr/>
        </p:nvSpPr>
        <p:spPr>
          <a:xfrm>
            <a:off x="569575" y="127850"/>
            <a:ext cx="82734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Example of the prompt written to sanitize the output text of the previous node to pure markdown and implement PII (check for </a:t>
            </a:r>
            <a:r>
              <a:rPr b="1" i="0" lang="en" sz="1600" u="none" cap="none" strike="noStrike">
                <a:solidFill>
                  <a:srgbClr val="000000"/>
                </a:solidFill>
                <a:latin typeface="Arial"/>
                <a:ea typeface="Arial"/>
                <a:cs typeface="Arial"/>
                <a:sym typeface="Arial"/>
              </a:rPr>
              <a:t>P</a:t>
            </a:r>
            <a:r>
              <a:rPr b="0" i="0" lang="en" sz="1600" u="none" cap="none" strike="noStrike">
                <a:solidFill>
                  <a:srgbClr val="000000"/>
                </a:solidFill>
                <a:latin typeface="Arial"/>
                <a:ea typeface="Arial"/>
                <a:cs typeface="Arial"/>
                <a:sym typeface="Arial"/>
              </a:rPr>
              <a:t>ersonally </a:t>
            </a:r>
            <a:r>
              <a:rPr b="1" i="0" lang="en" sz="1600" u="none" cap="none" strike="noStrike">
                <a:solidFill>
                  <a:srgbClr val="000000"/>
                </a:solidFill>
                <a:latin typeface="Arial"/>
                <a:ea typeface="Arial"/>
                <a:cs typeface="Arial"/>
                <a:sym typeface="Arial"/>
              </a:rPr>
              <a:t>I</a:t>
            </a:r>
            <a:r>
              <a:rPr b="0" i="0" lang="en" sz="1600" u="none" cap="none" strike="noStrike">
                <a:solidFill>
                  <a:srgbClr val="000000"/>
                </a:solidFill>
                <a:latin typeface="Arial"/>
                <a:ea typeface="Arial"/>
                <a:cs typeface="Arial"/>
                <a:sym typeface="Arial"/>
              </a:rPr>
              <a:t>dentifiable </a:t>
            </a:r>
            <a:r>
              <a:rPr b="1" i="0" lang="en" sz="1600" u="none" cap="none" strike="noStrike">
                <a:solidFill>
                  <a:srgbClr val="000000"/>
                </a:solidFill>
                <a:latin typeface="Arial"/>
                <a:ea typeface="Arial"/>
                <a:cs typeface="Arial"/>
                <a:sym typeface="Arial"/>
              </a:rPr>
              <a:t>I</a:t>
            </a:r>
            <a:r>
              <a:rPr b="0" i="0" lang="en" sz="1600" u="none" cap="none" strike="noStrike">
                <a:solidFill>
                  <a:srgbClr val="000000"/>
                </a:solidFill>
                <a:latin typeface="Arial"/>
                <a:ea typeface="Arial"/>
                <a:cs typeface="Arial"/>
                <a:sym typeface="Arial"/>
              </a:rPr>
              <a:t>nformation) on the text data:</a:t>
            </a:r>
            <a:endParaRPr b="0" i="0" sz="1600" u="none" cap="none" strike="noStrike">
              <a:solidFill>
                <a:srgbClr val="000000"/>
              </a:solidFill>
              <a:latin typeface="Arial"/>
              <a:ea typeface="Arial"/>
              <a:cs typeface="Arial"/>
              <a:sym typeface="Arial"/>
            </a:endParaRPr>
          </a:p>
        </p:txBody>
      </p:sp>
      <p:sp>
        <p:nvSpPr>
          <p:cNvPr id="152" name="Google Shape;152;g409ac91f0d9_0_116"/>
          <p:cNvSpPr txBox="1"/>
          <p:nvPr/>
        </p:nvSpPr>
        <p:spPr>
          <a:xfrm>
            <a:off x="569575" y="798875"/>
            <a:ext cx="8217900" cy="2955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Here is the prompt: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200" u="none" cap="none" strike="noStrike">
                <a:solidFill>
                  <a:srgbClr val="000000"/>
                </a:solidFill>
                <a:latin typeface="Arial"/>
                <a:ea typeface="Arial"/>
                <a:cs typeface="Arial"/>
                <a:sym typeface="Arial"/>
              </a:rPr>
              <a:t>You are an expert at formatting text into clean, organized Markdown.Please take the following raw text, remove all unnecessary line breaks, fix extra spaces, and format it using proper Markdown.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200" u="none" cap="none" strike="noStrike">
                <a:solidFill>
                  <a:srgbClr val="000000"/>
                </a:solidFill>
                <a:latin typeface="Arial"/>
                <a:ea typeface="Arial"/>
                <a:cs typeface="Arial"/>
                <a:sym typeface="Arial"/>
              </a:rPr>
              <a:t>Also make sure to implement PII on the text. Replace the original name by [NAME], original email by [EMAIL],original social security number by [SSN] and original address by [ADD].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200" u="none" cap="none" strike="noStrike">
                <a:solidFill>
                  <a:srgbClr val="000000"/>
                </a:solidFill>
                <a:latin typeface="Arial"/>
                <a:ea typeface="Arial"/>
                <a:cs typeface="Arial"/>
                <a:sym typeface="Arial"/>
              </a:rPr>
              <a:t>Remove the line "Here's the extracted content from the provided PDF:\n\n" from the text. Here is the text:  {{ $json.candidates[0].content.parts[0].text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200" u="none" cap="none" strike="noStrike">
                <a:solidFill>
                  <a:srgbClr val="000000"/>
                </a:solidFill>
                <a:latin typeface="Arial"/>
                <a:ea typeface="Arial"/>
                <a:cs typeface="Arial"/>
                <a:sym typeface="Arial"/>
              </a:rPr>
              <a:t>Give the resultant text as the final output.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409ac91f0d9_0_145"/>
          <p:cNvSpPr txBox="1"/>
          <p:nvPr/>
        </p:nvSpPr>
        <p:spPr>
          <a:xfrm>
            <a:off x="3429000" y="337100"/>
            <a:ext cx="334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Example of Error Handling</a:t>
            </a:r>
            <a:endParaRPr b="0" i="0" sz="1400" u="none" cap="none" strike="noStrike">
              <a:solidFill>
                <a:srgbClr val="000000"/>
              </a:solidFill>
              <a:latin typeface="Arial"/>
              <a:ea typeface="Arial"/>
              <a:cs typeface="Arial"/>
              <a:sym typeface="Arial"/>
            </a:endParaRPr>
          </a:p>
        </p:txBody>
      </p:sp>
      <p:sp>
        <p:nvSpPr>
          <p:cNvPr id="158" name="Google Shape;158;g409ac91f0d9_0_145"/>
          <p:cNvSpPr txBox="1"/>
          <p:nvPr/>
        </p:nvSpPr>
        <p:spPr>
          <a:xfrm>
            <a:off x="2882675" y="2132950"/>
            <a:ext cx="334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409ac91f0d9_0_145"/>
          <p:cNvSpPr txBox="1"/>
          <p:nvPr/>
        </p:nvSpPr>
        <p:spPr>
          <a:xfrm>
            <a:off x="331275" y="993825"/>
            <a:ext cx="84318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Below is the example of Error handling done by the Lara translate node. If there is an error, the workflow stops: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0" name="Google Shape;160;g409ac91f0d9_0_145" title="Error_handling_translate.png"/>
          <p:cNvPicPr preferRelativeResize="0"/>
          <p:nvPr/>
        </p:nvPicPr>
        <p:blipFill rotWithShape="1">
          <a:blip r:embed="rId3">
            <a:alphaModFix/>
          </a:blip>
          <a:srcRect b="0" l="0" r="0" t="0"/>
          <a:stretch/>
        </p:blipFill>
        <p:spPr>
          <a:xfrm>
            <a:off x="829203" y="1982375"/>
            <a:ext cx="6458972" cy="2787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409ac91f0d9_0_176"/>
          <p:cNvSpPr txBox="1"/>
          <p:nvPr/>
        </p:nvSpPr>
        <p:spPr>
          <a:xfrm>
            <a:off x="3737025" y="261525"/>
            <a:ext cx="334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Example of Logging </a:t>
            </a:r>
            <a:endParaRPr b="0" i="0" sz="1400" u="none" cap="none" strike="noStrike">
              <a:solidFill>
                <a:srgbClr val="000000"/>
              </a:solidFill>
              <a:latin typeface="Arial"/>
              <a:ea typeface="Arial"/>
              <a:cs typeface="Arial"/>
              <a:sym typeface="Arial"/>
            </a:endParaRPr>
          </a:p>
        </p:txBody>
      </p:sp>
      <p:sp>
        <p:nvSpPr>
          <p:cNvPr id="166" name="Google Shape;166;g409ac91f0d9_0_176"/>
          <p:cNvSpPr txBox="1"/>
          <p:nvPr/>
        </p:nvSpPr>
        <p:spPr>
          <a:xfrm>
            <a:off x="371950" y="831100"/>
            <a:ext cx="86001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Below is an example of Logging done by the AI agent node that cleans the data to make sure it’s pure markdown: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167" name="Google Shape;167;g409ac91f0d9_0_176" title="Log_OCR_run.png"/>
          <p:cNvPicPr preferRelativeResize="0"/>
          <p:nvPr/>
        </p:nvPicPr>
        <p:blipFill rotWithShape="1">
          <a:blip r:embed="rId3">
            <a:alphaModFix/>
          </a:blip>
          <a:srcRect b="0" l="0" r="0" t="0"/>
          <a:stretch/>
        </p:blipFill>
        <p:spPr>
          <a:xfrm>
            <a:off x="152400" y="2133375"/>
            <a:ext cx="8839204" cy="160124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71" name="Shape 171"/>
        <p:cNvGrpSpPr/>
        <p:nvPr/>
      </p:nvGrpSpPr>
      <p:grpSpPr>
        <a:xfrm>
          <a:off x="0" y="0"/>
          <a:ext cx="0" cy="0"/>
          <a:chOff x="0" y="0"/>
          <a:chExt cx="0" cy="0"/>
        </a:xfrm>
      </p:grpSpPr>
      <p:pic>
        <p:nvPicPr>
          <p:cNvPr id="172" name="Google Shape;172;g3f4700bee58_2_39"/>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173" name="Google Shape;173;g3f4700bee58_2_39"/>
          <p:cNvSpPr txBox="1"/>
          <p:nvPr>
            <p:ph type="ctrTitle"/>
          </p:nvPr>
        </p:nvSpPr>
        <p:spPr>
          <a:xfrm>
            <a:off x="96875" y="424975"/>
            <a:ext cx="85206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1A1A1A"/>
                </a:solidFill>
                <a:latin typeface="Inter"/>
                <a:ea typeface="Inter"/>
                <a:cs typeface="Inter"/>
                <a:sym typeface="Inter"/>
              </a:rPr>
              <a:t>Description of Lara Translation API</a:t>
            </a:r>
            <a:endParaRPr b="0" i="0" sz="2500" u="none" cap="none" strike="noStrike">
              <a:solidFill>
                <a:srgbClr val="1A1A1A"/>
              </a:solidFill>
              <a:latin typeface="Inter"/>
              <a:ea typeface="Inter"/>
              <a:cs typeface="Inter"/>
              <a:sym typeface="Inter"/>
            </a:endParaRPr>
          </a:p>
        </p:txBody>
      </p:sp>
      <p:sp>
        <p:nvSpPr>
          <p:cNvPr id="174" name="Google Shape;174;g3f4700bee58_2_39"/>
          <p:cNvSpPr txBox="1"/>
          <p:nvPr>
            <p:ph idx="1" type="subTitle"/>
          </p:nvPr>
        </p:nvSpPr>
        <p:spPr>
          <a:xfrm>
            <a:off x="139800" y="2298300"/>
            <a:ext cx="8520600" cy="2616600"/>
          </a:xfrm>
          <a:prstGeom prst="rect">
            <a:avLst/>
          </a:prstGeom>
          <a:noFill/>
          <a:ln>
            <a:noFill/>
          </a:ln>
        </p:spPr>
        <p:txBody>
          <a:bodyPr anchorCtr="0" anchor="b"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1A1A1A"/>
              </a:solidFill>
              <a:latin typeface="Inter"/>
              <a:ea typeface="Inter"/>
              <a:cs typeface="Inter"/>
              <a:sym typeface="Inter"/>
            </a:endParaRPr>
          </a:p>
          <a:p>
            <a:pPr indent="0" lvl="0" marL="45720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1A1A1A"/>
              </a:solidFill>
              <a:latin typeface="Inter"/>
              <a:ea typeface="Inter"/>
              <a:cs typeface="Inter"/>
              <a:sym typeface="Inter"/>
            </a:endParaRPr>
          </a:p>
          <a:p>
            <a:pPr indent="0" lvl="0" marL="45720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1A1A1A"/>
              </a:solidFill>
              <a:latin typeface="Inter"/>
              <a:ea typeface="Inter"/>
              <a:cs typeface="Inter"/>
              <a:sym typeface="Inter"/>
            </a:endParaRPr>
          </a:p>
        </p:txBody>
      </p:sp>
      <p:sp>
        <p:nvSpPr>
          <p:cNvPr id="175" name="Google Shape;175;g3f4700bee58_2_39"/>
          <p:cNvSpPr txBox="1"/>
          <p:nvPr/>
        </p:nvSpPr>
        <p:spPr>
          <a:xfrm>
            <a:off x="273975" y="1500025"/>
            <a:ext cx="8781000" cy="32016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Lara translate is a highly acclaimed app that integrates its API with n8n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Lara translate can translate almost all the major world languages.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The user only has to provide the original language and the target language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It has a Free to use edition with 60,000 characters/month limit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It has 3 paid editions </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8 Euro/month Pro edition doing 500,000 characters/month with 0.25 Euros for the next 10,000 characters.</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25 Euro/month Team edition(unlimited users) with 1.5 million characters/month with 0.20 Euros for the next 10,000 characters.</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Enterprise plan with negotiable pricing.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79" name="Shape 179"/>
        <p:cNvGrpSpPr/>
        <p:nvPr/>
      </p:nvGrpSpPr>
      <p:grpSpPr>
        <a:xfrm>
          <a:off x="0" y="0"/>
          <a:ext cx="0" cy="0"/>
          <a:chOff x="0" y="0"/>
          <a:chExt cx="0" cy="0"/>
        </a:xfrm>
      </p:grpSpPr>
      <p:pic>
        <p:nvPicPr>
          <p:cNvPr id="180" name="Google Shape;180;g3f4700bee58_2_46"/>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181" name="Google Shape;181;g3f4700bee58_2_46"/>
          <p:cNvSpPr txBox="1"/>
          <p:nvPr>
            <p:ph type="ctrTitle"/>
          </p:nvPr>
        </p:nvSpPr>
        <p:spPr>
          <a:xfrm>
            <a:off x="96875" y="424975"/>
            <a:ext cx="85206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1A1A1A"/>
                </a:solidFill>
                <a:latin typeface="Inter"/>
                <a:ea typeface="Inter"/>
                <a:cs typeface="Inter"/>
                <a:sym typeface="Inter"/>
              </a:rPr>
              <a:t>Description of PDF4me API</a:t>
            </a:r>
            <a:endParaRPr b="0" i="0" sz="2500" u="none" cap="none" strike="noStrike">
              <a:solidFill>
                <a:srgbClr val="1A1A1A"/>
              </a:solidFill>
              <a:latin typeface="Inter"/>
              <a:ea typeface="Inter"/>
              <a:cs typeface="Inter"/>
              <a:sym typeface="Inter"/>
            </a:endParaRPr>
          </a:p>
        </p:txBody>
      </p:sp>
      <p:sp>
        <p:nvSpPr>
          <p:cNvPr id="182" name="Google Shape;182;g3f4700bee58_2_46"/>
          <p:cNvSpPr txBox="1"/>
          <p:nvPr>
            <p:ph idx="1" type="subTitle"/>
          </p:nvPr>
        </p:nvSpPr>
        <p:spPr>
          <a:xfrm>
            <a:off x="139800" y="2298300"/>
            <a:ext cx="8520600" cy="2616600"/>
          </a:xfrm>
          <a:prstGeom prst="rect">
            <a:avLst/>
          </a:prstGeom>
          <a:noFill/>
          <a:ln>
            <a:noFill/>
          </a:ln>
        </p:spPr>
        <p:txBody>
          <a:bodyPr anchorCtr="0" anchor="b"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1A1A1A"/>
              </a:solidFill>
              <a:latin typeface="Inter"/>
              <a:ea typeface="Inter"/>
              <a:cs typeface="Inter"/>
              <a:sym typeface="Inter"/>
            </a:endParaRPr>
          </a:p>
          <a:p>
            <a:pPr indent="0" lvl="0" marL="45720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1A1A1A"/>
              </a:solidFill>
              <a:latin typeface="Inter"/>
              <a:ea typeface="Inter"/>
              <a:cs typeface="Inter"/>
              <a:sym typeface="Inter"/>
            </a:endParaRPr>
          </a:p>
          <a:p>
            <a:pPr indent="0" lvl="0" marL="45720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1A1A1A"/>
              </a:solidFill>
              <a:latin typeface="Inter"/>
              <a:ea typeface="Inter"/>
              <a:cs typeface="Inter"/>
              <a:sym typeface="Inter"/>
            </a:endParaRPr>
          </a:p>
        </p:txBody>
      </p:sp>
      <p:sp>
        <p:nvSpPr>
          <p:cNvPr id="183" name="Google Shape;183;g3f4700bee58_2_46"/>
          <p:cNvSpPr txBox="1"/>
          <p:nvPr/>
        </p:nvSpPr>
        <p:spPr>
          <a:xfrm>
            <a:off x="228600" y="1160463"/>
            <a:ext cx="5890500" cy="27705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PDF4me is a highly popular and reliable doc format converter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It converts files between various formats including PDF.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A free plan is available for limited use.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It offers the following paid plans:</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$6 per month for Pro plan offering 100 automation calls/month</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Negotiated Developer/Automation plans with higher limits</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