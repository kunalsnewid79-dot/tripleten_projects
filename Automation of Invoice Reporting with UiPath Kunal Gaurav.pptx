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Inter"/>
      <p:regular r:id="rId15"/>
      <p:bold r:id="rId16"/>
      <p:italic r:id="rId17"/>
      <p:boldItalic r:id="rId18"/>
    </p:embeddedFont>
    <p:embeddedFont>
      <p:font typeface="Inter ExtraBold"/>
      <p:bold r:id="rId19"/>
      <p:boldItalic r:id="rId20"/>
    </p:embeddedFont>
    <p:embeddedFont>
      <p:font typeface="Inter Medium"/>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ExtraBold-boldItalic.fntdata"/><Relationship Id="rId11" Type="http://schemas.openxmlformats.org/officeDocument/2006/relationships/slide" Target="slides/slide6.xml"/><Relationship Id="rId22" Type="http://schemas.openxmlformats.org/officeDocument/2006/relationships/font" Target="fonts/InterMedium-bold.fntdata"/><Relationship Id="rId10" Type="http://schemas.openxmlformats.org/officeDocument/2006/relationships/slide" Target="slides/slide5.xml"/><Relationship Id="rId21" Type="http://schemas.openxmlformats.org/officeDocument/2006/relationships/font" Target="fonts/InterMedium-regular.fntdata"/><Relationship Id="rId13" Type="http://schemas.openxmlformats.org/officeDocument/2006/relationships/slide" Target="slides/slide8.xml"/><Relationship Id="rId24" Type="http://schemas.openxmlformats.org/officeDocument/2006/relationships/font" Target="fonts/InterMedium-boldItalic.fntdata"/><Relationship Id="rId12" Type="http://schemas.openxmlformats.org/officeDocument/2006/relationships/slide" Target="slides/slide7.xml"/><Relationship Id="rId23" Type="http://schemas.openxmlformats.org/officeDocument/2006/relationships/font" Target="fonts/InterMedium-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Inter-regular.fntdata"/><Relationship Id="rId14" Type="http://schemas.openxmlformats.org/officeDocument/2006/relationships/slide" Target="slides/slide9.xml"/><Relationship Id="rId17" Type="http://schemas.openxmlformats.org/officeDocument/2006/relationships/font" Target="fonts/Inter-italic.fntdata"/><Relationship Id="rId16" Type="http://schemas.openxmlformats.org/officeDocument/2006/relationships/font" Target="fonts/Inter-bold.fntdata"/><Relationship Id="rId5" Type="http://schemas.openxmlformats.org/officeDocument/2006/relationships/notesMaster" Target="notesMasters/notesMaster1.xml"/><Relationship Id="rId19" Type="http://schemas.openxmlformats.org/officeDocument/2006/relationships/font" Target="fonts/InterExtraBold-bold.fntdata"/><Relationship Id="rId6" Type="http://schemas.openxmlformats.org/officeDocument/2006/relationships/slide" Target="slides/slide1.xml"/><Relationship Id="rId18"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6e7cf68d7d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6e7cf68d7d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e7cf68d7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e7cf68d7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6dc00fcd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76dc00fcd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121510ec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121510ec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121510e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121510e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121510ec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121510ec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121510ec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121510ec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6e7cf68d7d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6e7cf68d7d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e7cf68d7d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6e7cf68d7d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58" name="Shape 5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 name="Shape 67"/>
        <p:cNvGrpSpPr/>
        <p:nvPr/>
      </p:nvGrpSpPr>
      <p:grpSpPr>
        <a:xfrm>
          <a:off x="0" y="0"/>
          <a:ext cx="0" cy="0"/>
          <a:chOff x="0" y="0"/>
          <a:chExt cx="0" cy="0"/>
        </a:xfrm>
      </p:grpSpPr>
      <p:sp>
        <p:nvSpPr>
          <p:cNvPr id="68" name="Google Shape;6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 name="Shape 69"/>
        <p:cNvGrpSpPr/>
        <p:nvPr/>
      </p:nvGrpSpPr>
      <p:grpSpPr>
        <a:xfrm>
          <a:off x="0" y="0"/>
          <a:ext cx="0" cy="0"/>
          <a:chOff x="0" y="0"/>
          <a:chExt cx="0" cy="0"/>
        </a:xfrm>
      </p:grpSpPr>
      <p:sp>
        <p:nvSpPr>
          <p:cNvPr id="70" name="Google Shape;7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3.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hyperlink" Target="https://miro.com/app/board/uXjVHFLz1s8=/?share_link_id=608143372628"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hyperlink" Target="https://docs.google.com/spreadsheets/d/1h-7Za3b6KcEFIz6D08tPMivzpXTuoM9zeTp1nYcQkN0/edit?usp=sharing"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81" name="Shape 81"/>
        <p:cNvGrpSpPr/>
        <p:nvPr/>
      </p:nvGrpSpPr>
      <p:grpSpPr>
        <a:xfrm>
          <a:off x="0" y="0"/>
          <a:ext cx="0" cy="0"/>
          <a:chOff x="0" y="0"/>
          <a:chExt cx="0" cy="0"/>
        </a:xfrm>
      </p:grpSpPr>
      <p:sp>
        <p:nvSpPr>
          <p:cNvPr id="82" name="Google Shape;82;p28"/>
          <p:cNvSpPr txBox="1"/>
          <p:nvPr>
            <p:ph idx="4294967295" type="ctrTitle"/>
          </p:nvPr>
        </p:nvSpPr>
        <p:spPr>
          <a:xfrm>
            <a:off x="64008" y="638300"/>
            <a:ext cx="8520600" cy="2135400"/>
          </a:xfrm>
          <a:prstGeom prst="rect">
            <a:avLst/>
          </a:prstGeom>
        </p:spPr>
        <p:txBody>
          <a:bodyPr anchorCtr="0" anchor="t" bIns="91425" lIns="91425" spcFirstLastPara="1" rIns="91425" wrap="square" tIns="0">
            <a:spAutoFit/>
          </a:bodyPr>
          <a:lstStyle/>
          <a:p>
            <a:pPr indent="0" lvl="0" marL="0" rtl="0" algn="l">
              <a:lnSpc>
                <a:spcPct val="90000"/>
              </a:lnSpc>
              <a:spcBef>
                <a:spcPts val="0"/>
              </a:spcBef>
              <a:spcAft>
                <a:spcPts val="0"/>
              </a:spcAft>
              <a:buNone/>
            </a:pPr>
            <a:r>
              <a:rPr lang="en" sz="5800">
                <a:solidFill>
                  <a:srgbClr val="1A1A1A"/>
                </a:solidFill>
                <a:latin typeface="Inter ExtraBold"/>
                <a:ea typeface="Inter ExtraBold"/>
                <a:cs typeface="Inter ExtraBold"/>
                <a:sym typeface="Inter ExtraBold"/>
              </a:rPr>
              <a:t>Automation of Invoice Reporting with UiPath</a:t>
            </a:r>
            <a:endParaRPr sz="5800">
              <a:solidFill>
                <a:srgbClr val="1A1A1A"/>
              </a:solidFill>
              <a:latin typeface="Inter ExtraBold"/>
              <a:ea typeface="Inter ExtraBold"/>
              <a:cs typeface="Inter ExtraBold"/>
              <a:sym typeface="Inter ExtraBold"/>
            </a:endParaRPr>
          </a:p>
          <a:p>
            <a:pPr indent="0" lvl="0" marL="0" rtl="0" algn="l">
              <a:spcBef>
                <a:spcPts val="1000"/>
              </a:spcBef>
              <a:spcAft>
                <a:spcPts val="0"/>
              </a:spcAft>
              <a:buClr>
                <a:schemeClr val="dk1"/>
              </a:buClr>
              <a:buSzPts val="1100"/>
              <a:buFont typeface="Arial"/>
              <a:buNone/>
            </a:pPr>
            <a:r>
              <a:rPr lang="en" sz="2000">
                <a:solidFill>
                  <a:srgbClr val="1A1A1A"/>
                </a:solidFill>
                <a:latin typeface="Inter"/>
                <a:ea typeface="Inter"/>
                <a:cs typeface="Inter"/>
                <a:sym typeface="Inter"/>
              </a:rPr>
              <a:t>Kunal Gaurav</a:t>
            </a:r>
            <a:endParaRPr sz="6000">
              <a:solidFill>
                <a:srgbClr val="1A1A1A"/>
              </a:solidFill>
              <a:latin typeface="Inter ExtraBold"/>
              <a:ea typeface="Inter ExtraBold"/>
              <a:cs typeface="Inter ExtraBold"/>
              <a:sym typeface="Inter ExtraBold"/>
            </a:endParaRPr>
          </a:p>
        </p:txBody>
      </p:sp>
      <p:pic>
        <p:nvPicPr>
          <p:cNvPr id="83" name="Google Shape;83;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84" name="Google Shape;84;p28"/>
          <p:cNvSpPr txBox="1"/>
          <p:nvPr>
            <p:ph idx="4294967295" type="subTitle"/>
          </p:nvPr>
        </p:nvSpPr>
        <p:spPr>
          <a:xfrm>
            <a:off x="152400" y="4600950"/>
            <a:ext cx="8686800" cy="369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rgbClr val="2A2A2A"/>
                </a:solidFill>
                <a:latin typeface="Inter Medium"/>
                <a:ea typeface="Inter Medium"/>
                <a:cs typeface="Inter Medium"/>
                <a:sym typeface="Inter Medium"/>
              </a:rPr>
              <a:t>AI Automation | Project 6</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88" name="Shape 88"/>
        <p:cNvGrpSpPr/>
        <p:nvPr/>
      </p:nvGrpSpPr>
      <p:grpSpPr>
        <a:xfrm>
          <a:off x="0" y="0"/>
          <a:ext cx="0" cy="0"/>
          <a:chOff x="0" y="0"/>
          <a:chExt cx="0" cy="0"/>
        </a:xfrm>
      </p:grpSpPr>
      <p:sp>
        <p:nvSpPr>
          <p:cNvPr id="89" name="Google Shape;89;p29"/>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Problem</a:t>
            </a:r>
            <a:endParaRPr sz="4000">
              <a:solidFill>
                <a:srgbClr val="1A1A1A"/>
              </a:solidFill>
              <a:latin typeface="Inter ExtraBold"/>
              <a:ea typeface="Inter ExtraBold"/>
              <a:cs typeface="Inter ExtraBold"/>
              <a:sym typeface="Inter ExtraBold"/>
            </a:endParaRPr>
          </a:p>
        </p:txBody>
      </p:sp>
      <p:sp>
        <p:nvSpPr>
          <p:cNvPr id="90" name="Google Shape;90;p29"/>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330200" lvl="0" marL="457200" rtl="0" algn="l">
              <a:lnSpc>
                <a:spcPct val="115000"/>
              </a:lnSpc>
              <a:spcBef>
                <a:spcPts val="1200"/>
              </a:spcBef>
              <a:spcAft>
                <a:spcPts val="0"/>
              </a:spcAft>
              <a:buClr>
                <a:srgbClr val="1A1A1A"/>
              </a:buClr>
              <a:buSzPts val="1600"/>
              <a:buFont typeface="Inter"/>
              <a:buChar char="●"/>
            </a:pPr>
            <a:r>
              <a:rPr lang="en" sz="1600">
                <a:solidFill>
                  <a:srgbClr val="1A1A1A"/>
                </a:solidFill>
                <a:latin typeface="Inter"/>
                <a:ea typeface="Inter"/>
                <a:cs typeface="Inter"/>
                <a:sym typeface="Inter"/>
              </a:rPr>
              <a:t>The finance manager of a company manually checks each invoice sent to the company, copies the invoice number, supplier name, due date and the total amount due into a </a:t>
            </a:r>
            <a:r>
              <a:rPr lang="en" sz="1600">
                <a:solidFill>
                  <a:srgbClr val="1A1A1A"/>
                </a:solidFill>
                <a:latin typeface="Inter"/>
                <a:ea typeface="Inter"/>
                <a:cs typeface="Inter"/>
                <a:sym typeface="Inter"/>
              </a:rPr>
              <a:t>spreadsheet. Then the manager adds a new column consisting of a short note describing the purchase.</a:t>
            </a:r>
            <a:endParaRPr sz="1600">
              <a:solidFill>
                <a:srgbClr val="1A1A1A"/>
              </a:solidFill>
              <a:latin typeface="Inter"/>
              <a:ea typeface="Inter"/>
              <a:cs typeface="Inter"/>
              <a:sym typeface="Inter"/>
            </a:endParaRPr>
          </a:p>
          <a:p>
            <a:pPr indent="-330200" lvl="0" marL="457200" rtl="0" algn="l">
              <a:lnSpc>
                <a:spcPct val="115000"/>
              </a:lnSpc>
              <a:spcBef>
                <a:spcPts val="0"/>
              </a:spcBef>
              <a:spcAft>
                <a:spcPts val="0"/>
              </a:spcAft>
              <a:buClr>
                <a:srgbClr val="1A1A1A"/>
              </a:buClr>
              <a:buSzPts val="1600"/>
              <a:buFont typeface="Inter"/>
              <a:buChar char="●"/>
            </a:pPr>
            <a:r>
              <a:rPr lang="en" sz="1600">
                <a:solidFill>
                  <a:srgbClr val="1A1A1A"/>
                </a:solidFill>
                <a:latin typeface="Inter"/>
                <a:ea typeface="Inter"/>
                <a:cs typeface="Inter"/>
                <a:sym typeface="Inter"/>
              </a:rPr>
              <a:t>This process is manual and time consuming. It needs to be automated with the help of an AI Automated Workflow.</a:t>
            </a:r>
            <a:endParaRPr sz="1600">
              <a:solidFill>
                <a:srgbClr val="1A1A1A"/>
              </a:solidFill>
              <a:latin typeface="Inter"/>
              <a:ea typeface="Inter"/>
              <a:cs typeface="Inter"/>
              <a:sym typeface="Inter"/>
            </a:endParaRPr>
          </a:p>
          <a:p>
            <a:pPr indent="-330200" lvl="0" marL="457200" rtl="0" algn="l">
              <a:lnSpc>
                <a:spcPct val="115000"/>
              </a:lnSpc>
              <a:spcBef>
                <a:spcPts val="0"/>
              </a:spcBef>
              <a:spcAft>
                <a:spcPts val="0"/>
              </a:spcAft>
              <a:buClr>
                <a:srgbClr val="1A1A1A"/>
              </a:buClr>
              <a:buSzPts val="1600"/>
              <a:buFont typeface="Inter"/>
              <a:buChar char="●"/>
            </a:pPr>
            <a:r>
              <a:rPr lang="en" sz="1600">
                <a:solidFill>
                  <a:srgbClr val="1A1A1A"/>
                </a:solidFill>
                <a:latin typeface="Inter"/>
                <a:ea typeface="Inter"/>
                <a:cs typeface="Inter"/>
                <a:sym typeface="Inter"/>
              </a:rPr>
              <a:t>The task is to read 6 invoices (which have a due date of 09/22/2025 or before),  extract all the relevant data from them and add the data to the spreadsheet columns. Then use AI to read and add the purchase description into the last column.</a:t>
            </a:r>
            <a:endParaRPr sz="1600">
              <a:solidFill>
                <a:srgbClr val="1A1A1A"/>
              </a:solidFill>
              <a:latin typeface="Inter"/>
              <a:ea typeface="Inter"/>
              <a:cs typeface="Inter"/>
              <a:sym typeface="Inter"/>
            </a:endParaRPr>
          </a:p>
          <a:p>
            <a:pPr indent="-330200" lvl="0" marL="457200" rtl="0" algn="l">
              <a:lnSpc>
                <a:spcPct val="115000"/>
              </a:lnSpc>
              <a:spcBef>
                <a:spcPts val="0"/>
              </a:spcBef>
              <a:spcAft>
                <a:spcPts val="0"/>
              </a:spcAft>
              <a:buClr>
                <a:srgbClr val="1A1A1A"/>
              </a:buClr>
              <a:buSzPts val="1600"/>
              <a:buFont typeface="Inter"/>
              <a:buChar char="●"/>
            </a:pPr>
            <a:r>
              <a:rPr lang="en" sz="1600">
                <a:solidFill>
                  <a:srgbClr val="1A1A1A"/>
                </a:solidFill>
                <a:latin typeface="Inter"/>
                <a:ea typeface="Inter"/>
                <a:cs typeface="Inter"/>
                <a:sym typeface="Inter"/>
              </a:rPr>
              <a:t>The </a:t>
            </a:r>
            <a:r>
              <a:rPr lang="en" sz="1600">
                <a:solidFill>
                  <a:srgbClr val="1A1A1A"/>
                </a:solidFill>
                <a:latin typeface="Inter"/>
                <a:ea typeface="Inter"/>
                <a:cs typeface="Inter"/>
                <a:sym typeface="Inter"/>
              </a:rPr>
              <a:t>task</a:t>
            </a:r>
            <a:r>
              <a:rPr lang="en" sz="1600">
                <a:solidFill>
                  <a:srgbClr val="1A1A1A"/>
                </a:solidFill>
                <a:latin typeface="Inter"/>
                <a:ea typeface="Inter"/>
                <a:cs typeface="Inter"/>
                <a:sym typeface="Inter"/>
              </a:rPr>
              <a:t> will be automated using UiPath studio.</a:t>
            </a:r>
            <a:endParaRPr sz="1600">
              <a:solidFill>
                <a:srgbClr val="1A1A1A"/>
              </a:solidFill>
              <a:latin typeface="Inter"/>
              <a:ea typeface="Inter"/>
              <a:cs typeface="Inter"/>
              <a:sym typeface="Inter"/>
            </a:endParaRPr>
          </a:p>
          <a:p>
            <a:pPr indent="0" lvl="0" marL="457200" rtl="0" algn="l">
              <a:lnSpc>
                <a:spcPct val="115000"/>
              </a:lnSpc>
              <a:spcBef>
                <a:spcPts val="1200"/>
              </a:spcBef>
              <a:spcAft>
                <a:spcPts val="1200"/>
              </a:spcAft>
              <a:buNone/>
            </a:pPr>
            <a:r>
              <a:t/>
            </a:r>
            <a:endParaRPr sz="2000">
              <a:solidFill>
                <a:srgbClr val="1A1A1A"/>
              </a:solidFill>
              <a:latin typeface="Inter"/>
              <a:ea typeface="Inter"/>
              <a:cs typeface="Inter"/>
              <a:sym typeface="Inter"/>
            </a:endParaRPr>
          </a:p>
        </p:txBody>
      </p:sp>
      <p:sp>
        <p:nvSpPr>
          <p:cNvPr id="91" name="Google Shape;91;p29"/>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95" name="Shape 95"/>
        <p:cNvGrpSpPr/>
        <p:nvPr/>
      </p:nvGrpSpPr>
      <p:grpSpPr>
        <a:xfrm>
          <a:off x="0" y="0"/>
          <a:ext cx="0" cy="0"/>
          <a:chOff x="0" y="0"/>
          <a:chExt cx="0" cy="0"/>
        </a:xfrm>
      </p:grpSpPr>
      <p:sp>
        <p:nvSpPr>
          <p:cNvPr id="96" name="Google Shape;96;p30"/>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Solution</a:t>
            </a:r>
            <a:endParaRPr sz="4000">
              <a:solidFill>
                <a:srgbClr val="1A1A1A"/>
              </a:solidFill>
              <a:latin typeface="Inter ExtraBold"/>
              <a:ea typeface="Inter ExtraBold"/>
              <a:cs typeface="Inter ExtraBold"/>
              <a:sym typeface="Inter ExtraBold"/>
            </a:endParaRPr>
          </a:p>
        </p:txBody>
      </p:sp>
      <p:sp>
        <p:nvSpPr>
          <p:cNvPr id="97" name="Google Shape;97;p30"/>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330200" lvl="0" marL="457200" rtl="0" algn="l">
              <a:lnSpc>
                <a:spcPct val="115000"/>
              </a:lnSpc>
              <a:spcBef>
                <a:spcPts val="1200"/>
              </a:spcBef>
              <a:spcAft>
                <a:spcPts val="0"/>
              </a:spcAft>
              <a:buClr>
                <a:srgbClr val="1A1A1A"/>
              </a:buClr>
              <a:buSzPts val="1600"/>
              <a:buFont typeface="Inter"/>
              <a:buChar char="●"/>
            </a:pPr>
            <a:r>
              <a:rPr lang="en" sz="1600">
                <a:solidFill>
                  <a:srgbClr val="1A1A1A"/>
                </a:solidFill>
                <a:latin typeface="Inter"/>
                <a:ea typeface="Inter"/>
                <a:cs typeface="Inter"/>
                <a:sym typeface="Inter"/>
              </a:rPr>
              <a:t>The RPA workflow built on UiPath Studio  </a:t>
            </a:r>
            <a:r>
              <a:rPr lang="en" sz="1600">
                <a:solidFill>
                  <a:srgbClr val="1A1A1A"/>
                </a:solidFill>
                <a:latin typeface="Inter"/>
                <a:ea typeface="Inter"/>
                <a:cs typeface="Inter"/>
                <a:sym typeface="Inter"/>
              </a:rPr>
              <a:t>iterates</a:t>
            </a:r>
            <a:r>
              <a:rPr lang="en" sz="1600">
                <a:solidFill>
                  <a:srgbClr val="1A1A1A"/>
                </a:solidFill>
                <a:latin typeface="Inter"/>
                <a:ea typeface="Inter"/>
                <a:cs typeface="Inter"/>
                <a:sym typeface="Inter"/>
              </a:rPr>
              <a:t> through all the invoices copied over at a specified location using the “For Each” </a:t>
            </a:r>
            <a:r>
              <a:rPr lang="en" sz="1600">
                <a:solidFill>
                  <a:srgbClr val="1A1A1A"/>
                </a:solidFill>
                <a:latin typeface="Inter"/>
                <a:ea typeface="Inter"/>
                <a:cs typeface="Inter"/>
                <a:sym typeface="Inter"/>
              </a:rPr>
              <a:t>module.</a:t>
            </a:r>
            <a:r>
              <a:rPr lang="en" sz="1600">
                <a:solidFill>
                  <a:srgbClr val="1A1A1A"/>
                </a:solidFill>
                <a:latin typeface="Inter"/>
                <a:ea typeface="Inter"/>
                <a:cs typeface="Inter"/>
                <a:sym typeface="Inter"/>
              </a:rPr>
              <a:t> </a:t>
            </a:r>
            <a:endParaRPr sz="1600">
              <a:solidFill>
                <a:srgbClr val="1A1A1A"/>
              </a:solidFill>
              <a:latin typeface="Inter"/>
              <a:ea typeface="Inter"/>
              <a:cs typeface="Inter"/>
              <a:sym typeface="Inter"/>
            </a:endParaRPr>
          </a:p>
          <a:p>
            <a:pPr indent="-330200" lvl="0" marL="457200" rtl="0" algn="l">
              <a:lnSpc>
                <a:spcPct val="115000"/>
              </a:lnSpc>
              <a:spcBef>
                <a:spcPts val="0"/>
              </a:spcBef>
              <a:spcAft>
                <a:spcPts val="0"/>
              </a:spcAft>
              <a:buClr>
                <a:srgbClr val="1A1A1A"/>
              </a:buClr>
              <a:buSzPts val="1600"/>
              <a:buFont typeface="Inter"/>
              <a:buChar char="●"/>
            </a:pPr>
            <a:r>
              <a:rPr lang="en" sz="1600">
                <a:solidFill>
                  <a:srgbClr val="1A1A1A"/>
                </a:solidFill>
                <a:latin typeface="Inter"/>
                <a:ea typeface="Inter"/>
                <a:cs typeface="Inter"/>
                <a:sym typeface="Inter"/>
              </a:rPr>
              <a:t>Relevant data - Invoice number, Supplier name, Due date and Total amount are extracted from the invoices using “Extract Document Data” module that is using the Predefined Document Understanding Project’s “Invoices” Extractor</a:t>
            </a:r>
            <a:endParaRPr sz="1600">
              <a:solidFill>
                <a:srgbClr val="1A1A1A"/>
              </a:solidFill>
              <a:latin typeface="Inter"/>
              <a:ea typeface="Inter"/>
              <a:cs typeface="Inter"/>
              <a:sym typeface="Inter"/>
            </a:endParaRPr>
          </a:p>
          <a:p>
            <a:pPr indent="-330200" lvl="0" marL="457200" rtl="0" algn="l">
              <a:lnSpc>
                <a:spcPct val="115000"/>
              </a:lnSpc>
              <a:spcBef>
                <a:spcPts val="0"/>
              </a:spcBef>
              <a:spcAft>
                <a:spcPts val="0"/>
              </a:spcAft>
              <a:buClr>
                <a:srgbClr val="1A1A1A"/>
              </a:buClr>
              <a:buSzPts val="1600"/>
              <a:buFont typeface="Inter"/>
              <a:buChar char="●"/>
            </a:pPr>
            <a:r>
              <a:rPr lang="en" sz="1600">
                <a:solidFill>
                  <a:srgbClr val="1A1A1A"/>
                </a:solidFill>
                <a:latin typeface="Inter"/>
                <a:ea typeface="Inter"/>
                <a:cs typeface="Inter"/>
                <a:sym typeface="Inter"/>
              </a:rPr>
              <a:t>An “If-else” module is used to select only those Invoices that have a due date on or before </a:t>
            </a:r>
            <a:r>
              <a:rPr lang="en" sz="1600">
                <a:solidFill>
                  <a:srgbClr val="1A1A1A"/>
                </a:solidFill>
                <a:latin typeface="Inter"/>
                <a:ea typeface="Inter"/>
                <a:cs typeface="Inter"/>
                <a:sym typeface="Inter"/>
              </a:rPr>
              <a:t>September</a:t>
            </a:r>
            <a:r>
              <a:rPr lang="en" sz="1600">
                <a:solidFill>
                  <a:srgbClr val="1A1A1A"/>
                </a:solidFill>
                <a:latin typeface="Inter"/>
                <a:ea typeface="Inter"/>
                <a:cs typeface="Inter"/>
                <a:sym typeface="Inter"/>
              </a:rPr>
              <a:t> 22, 2025. </a:t>
            </a:r>
            <a:endParaRPr sz="1600">
              <a:solidFill>
                <a:srgbClr val="1A1A1A"/>
              </a:solidFill>
              <a:latin typeface="Inter"/>
              <a:ea typeface="Inter"/>
              <a:cs typeface="Inter"/>
              <a:sym typeface="Inter"/>
            </a:endParaRPr>
          </a:p>
          <a:p>
            <a:pPr indent="-330200" lvl="0" marL="457200" rtl="0" algn="l">
              <a:lnSpc>
                <a:spcPct val="115000"/>
              </a:lnSpc>
              <a:spcBef>
                <a:spcPts val="0"/>
              </a:spcBef>
              <a:spcAft>
                <a:spcPts val="0"/>
              </a:spcAft>
              <a:buClr>
                <a:srgbClr val="1A1A1A"/>
              </a:buClr>
              <a:buSzPts val="1600"/>
              <a:buFont typeface="Inter"/>
              <a:buChar char="●"/>
            </a:pPr>
            <a:r>
              <a:rPr lang="en" sz="1600">
                <a:solidFill>
                  <a:srgbClr val="1A1A1A"/>
                </a:solidFill>
                <a:latin typeface="Inter"/>
                <a:ea typeface="Inter"/>
                <a:cs typeface="Inter"/>
                <a:sym typeface="Inter"/>
              </a:rPr>
              <a:t>Then, a nested “If-else” module is used to choose only those invoices whose confidence levels are &gt;= 0.7. From a visual inspection ,there are 4 invoices that meet both this criteria and the criteria listed above.</a:t>
            </a:r>
            <a:endParaRPr sz="1600">
              <a:solidFill>
                <a:srgbClr val="1A1A1A"/>
              </a:solidFill>
              <a:latin typeface="Inter"/>
              <a:ea typeface="Inter"/>
              <a:cs typeface="Inter"/>
              <a:sym typeface="Inter"/>
            </a:endParaRPr>
          </a:p>
          <a:p>
            <a:pPr indent="0" lvl="0" marL="457200" rtl="0" algn="l">
              <a:lnSpc>
                <a:spcPct val="115000"/>
              </a:lnSpc>
              <a:spcBef>
                <a:spcPts val="1200"/>
              </a:spcBef>
              <a:spcAft>
                <a:spcPts val="1200"/>
              </a:spcAft>
              <a:buNone/>
            </a:pPr>
            <a:r>
              <a:t/>
            </a:r>
            <a:endParaRPr>
              <a:solidFill>
                <a:srgbClr val="1A1A1A"/>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1"/>
          <p:cNvSpPr txBox="1"/>
          <p:nvPr/>
        </p:nvSpPr>
        <p:spPr>
          <a:xfrm>
            <a:off x="3680925" y="891075"/>
            <a:ext cx="548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3" name="Google Shape;103;p31"/>
          <p:cNvSpPr txBox="1"/>
          <p:nvPr/>
        </p:nvSpPr>
        <p:spPr>
          <a:xfrm>
            <a:off x="212150" y="1291275"/>
            <a:ext cx="8486400" cy="36942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rgbClr val="1A1A1A"/>
              </a:buClr>
              <a:buSzPts val="1600"/>
              <a:buFont typeface="Inter"/>
              <a:buChar char="●"/>
            </a:pPr>
            <a:r>
              <a:rPr lang="en" sz="1600">
                <a:solidFill>
                  <a:srgbClr val="1A1A1A"/>
                </a:solidFill>
                <a:latin typeface="Inter"/>
                <a:ea typeface="Inter"/>
                <a:cs typeface="Inter"/>
                <a:sym typeface="Inter"/>
              </a:rPr>
              <a:t>Now, a “Content Generation” AI module is used to read the invoice data and come up with a short purchase description of the invoice. This AI module uses gpt-5.1 model. The prompt used by the Content Generation Module is “You are helping a finance manager understand invoices.Look at the invoice text and generate a very short description (max 15 words) of what the company is purchasing.Keep it plain and businesslike.”</a:t>
            </a:r>
            <a:endParaRPr sz="1600">
              <a:solidFill>
                <a:srgbClr val="1A1A1A"/>
              </a:solidFill>
              <a:latin typeface="Inter"/>
              <a:ea typeface="Inter"/>
              <a:cs typeface="Inter"/>
              <a:sym typeface="Inter"/>
            </a:endParaRPr>
          </a:p>
          <a:p>
            <a:pPr indent="0" lvl="0" marL="457200" rtl="0" algn="l">
              <a:lnSpc>
                <a:spcPct val="115000"/>
              </a:lnSpc>
              <a:spcBef>
                <a:spcPts val="1200"/>
              </a:spcBef>
              <a:spcAft>
                <a:spcPts val="0"/>
              </a:spcAft>
              <a:buNone/>
            </a:pPr>
            <a:r>
              <a:t/>
            </a:r>
            <a:endParaRPr sz="1600">
              <a:solidFill>
                <a:srgbClr val="1A1A1A"/>
              </a:solidFill>
              <a:latin typeface="Inter"/>
              <a:ea typeface="Inter"/>
              <a:cs typeface="Inter"/>
              <a:sym typeface="Inter"/>
            </a:endParaRPr>
          </a:p>
          <a:p>
            <a:pPr indent="-330200" lvl="0" marL="457200" rtl="0" algn="l">
              <a:lnSpc>
                <a:spcPct val="115000"/>
              </a:lnSpc>
              <a:spcBef>
                <a:spcPts val="1200"/>
              </a:spcBef>
              <a:spcAft>
                <a:spcPts val="0"/>
              </a:spcAft>
              <a:buClr>
                <a:srgbClr val="1A1A1A"/>
              </a:buClr>
              <a:buSzPts val="1600"/>
              <a:buFont typeface="Inter"/>
              <a:buChar char="●"/>
            </a:pPr>
            <a:r>
              <a:rPr lang="en" sz="1600">
                <a:solidFill>
                  <a:srgbClr val="1A1A1A"/>
                </a:solidFill>
                <a:latin typeface="Inter"/>
                <a:ea typeface="Inter"/>
                <a:cs typeface="Inter"/>
                <a:sym typeface="Inter"/>
              </a:rPr>
              <a:t>A “Write Row” module is used to open a pre-defined google sheet and update 5 columns- “Invoice number”, “Supplier name”, “Due date”, “Total amount” and “Purchase description”.</a:t>
            </a:r>
            <a:endParaRPr sz="1600">
              <a:solidFill>
                <a:srgbClr val="1A1A1A"/>
              </a:solidFill>
              <a:latin typeface="Inter"/>
              <a:ea typeface="Inter"/>
              <a:cs typeface="Inter"/>
              <a:sym typeface="Inter"/>
            </a:endParaRPr>
          </a:p>
          <a:p>
            <a:pPr indent="0" lvl="0" marL="0" rtl="0" algn="l">
              <a:spcBef>
                <a:spcPts val="1200"/>
              </a:spcBef>
              <a:spcAft>
                <a:spcPts val="0"/>
              </a:spcAft>
              <a:buNone/>
            </a:pPr>
            <a:r>
              <a:t/>
            </a:r>
            <a:endParaRPr/>
          </a:p>
        </p:txBody>
      </p:sp>
      <p:sp>
        <p:nvSpPr>
          <p:cNvPr id="104" name="Google Shape;104;p31"/>
          <p:cNvSpPr txBox="1"/>
          <p:nvPr/>
        </p:nvSpPr>
        <p:spPr>
          <a:xfrm>
            <a:off x="487975" y="381875"/>
            <a:ext cx="86775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4000">
                <a:solidFill>
                  <a:schemeClr val="dk1"/>
                </a:solidFill>
              </a:rPr>
              <a:t>Solution (contd.)</a:t>
            </a:r>
            <a:endParaRPr b="1" sz="4000">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2"/>
          <p:cNvSpPr txBox="1"/>
          <p:nvPr/>
        </p:nvSpPr>
        <p:spPr>
          <a:xfrm>
            <a:off x="434925" y="212150"/>
            <a:ext cx="86028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t>Solution (contd.)</a:t>
            </a:r>
            <a:endParaRPr b="1" sz="4000"/>
          </a:p>
        </p:txBody>
      </p:sp>
      <p:sp>
        <p:nvSpPr>
          <p:cNvPr id="110" name="Google Shape;110;p32"/>
          <p:cNvSpPr txBox="1"/>
          <p:nvPr/>
        </p:nvSpPr>
        <p:spPr>
          <a:xfrm>
            <a:off x="360675" y="3808225"/>
            <a:ext cx="605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1" name="Google Shape;111;p32"/>
          <p:cNvSpPr txBox="1"/>
          <p:nvPr/>
        </p:nvSpPr>
        <p:spPr>
          <a:xfrm>
            <a:off x="360675" y="1219900"/>
            <a:ext cx="7319400" cy="10314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Another nested “Else” module is added for the condition that Invoice number </a:t>
            </a:r>
            <a:r>
              <a:rPr lang="en"/>
              <a:t>confidence</a:t>
            </a:r>
            <a:r>
              <a:rPr lang="en"/>
              <a:t> is &lt; 0.7. It logs an error saying that </a:t>
            </a:r>
            <a:r>
              <a:rPr b="1" lang="en"/>
              <a:t>“</a:t>
            </a:r>
            <a:r>
              <a:rPr b="1" lang="en" sz="1350">
                <a:solidFill>
                  <a:schemeClr val="dk1"/>
                </a:solidFill>
                <a:highlight>
                  <a:srgbClr val="FFFFFF"/>
                </a:highlight>
              </a:rPr>
              <a:t>Invoice requires manual check: low confidence on the invoice number.”</a:t>
            </a:r>
            <a:endParaRPr b="1" sz="1350">
              <a:solidFill>
                <a:schemeClr val="dk1"/>
              </a:solidFill>
              <a:highlight>
                <a:srgbClr val="FFFFFF"/>
              </a:highlight>
            </a:endParaRPr>
          </a:p>
          <a:p>
            <a:pPr indent="-314325" lvl="0" marL="457200" rtl="0" algn="l">
              <a:spcBef>
                <a:spcPts val="0"/>
              </a:spcBef>
              <a:spcAft>
                <a:spcPts val="0"/>
              </a:spcAft>
              <a:buClr>
                <a:schemeClr val="dk1"/>
              </a:buClr>
              <a:buSzPts val="1350"/>
              <a:buChar char="●"/>
            </a:pPr>
            <a:r>
              <a:rPr lang="en" sz="1350">
                <a:solidFill>
                  <a:schemeClr val="dk1"/>
                </a:solidFill>
                <a:highlight>
                  <a:srgbClr val="FFFFFF"/>
                </a:highlight>
              </a:rPr>
              <a:t>Below is the snapshot of the log module that is added to the workflow</a:t>
            </a:r>
            <a:endParaRPr sz="1350">
              <a:solidFill>
                <a:schemeClr val="dk1"/>
              </a:solidFill>
              <a:highlight>
                <a:srgbClr val="FFFFFF"/>
              </a:highlight>
            </a:endParaRPr>
          </a:p>
        </p:txBody>
      </p:sp>
      <p:pic>
        <p:nvPicPr>
          <p:cNvPr id="112" name="Google Shape;112;p32" title="RPA_log_error.png"/>
          <p:cNvPicPr preferRelativeResize="0"/>
          <p:nvPr/>
        </p:nvPicPr>
        <p:blipFill>
          <a:blip r:embed="rId3">
            <a:alphaModFix/>
          </a:blip>
          <a:stretch>
            <a:fillRect/>
          </a:stretch>
        </p:blipFill>
        <p:spPr>
          <a:xfrm>
            <a:off x="1611375" y="2458651"/>
            <a:ext cx="4818011" cy="2214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3"/>
          <p:cNvSpPr txBox="1"/>
          <p:nvPr/>
        </p:nvSpPr>
        <p:spPr>
          <a:xfrm>
            <a:off x="1251725" y="84875"/>
            <a:ext cx="6036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t>RPA Workflow Diagram</a:t>
            </a:r>
            <a:endParaRPr sz="4000"/>
          </a:p>
        </p:txBody>
      </p:sp>
      <p:sp>
        <p:nvSpPr>
          <p:cNvPr id="118" name="Google Shape;118;p33"/>
          <p:cNvSpPr txBox="1"/>
          <p:nvPr/>
        </p:nvSpPr>
        <p:spPr>
          <a:xfrm>
            <a:off x="509175" y="795600"/>
            <a:ext cx="8040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Link to the flowchart: </a:t>
            </a:r>
            <a:r>
              <a:rPr lang="en" u="sng">
                <a:solidFill>
                  <a:schemeClr val="hlink"/>
                </a:solidFill>
                <a:hlinkClick r:id="rId3"/>
              </a:rPr>
              <a:t>https://miro.com/app/board/uXjVHFLz1s8=/?share_link_id=608143372628</a:t>
            </a:r>
            <a:endParaRPr/>
          </a:p>
          <a:p>
            <a:pPr indent="0" lvl="0" marL="0" rtl="0" algn="l">
              <a:spcBef>
                <a:spcPts val="0"/>
              </a:spcBef>
              <a:spcAft>
                <a:spcPts val="0"/>
              </a:spcAft>
              <a:buNone/>
            </a:pPr>
            <a:r>
              <a:t/>
            </a:r>
            <a:endParaRPr/>
          </a:p>
        </p:txBody>
      </p:sp>
      <p:pic>
        <p:nvPicPr>
          <p:cNvPr id="119" name="Google Shape;119;p33" title="Sprint 6 Flowchart.png"/>
          <p:cNvPicPr preferRelativeResize="0"/>
          <p:nvPr/>
        </p:nvPicPr>
        <p:blipFill>
          <a:blip r:embed="rId4">
            <a:alphaModFix/>
          </a:blip>
          <a:stretch>
            <a:fillRect/>
          </a:stretch>
        </p:blipFill>
        <p:spPr>
          <a:xfrm>
            <a:off x="152400" y="1230525"/>
            <a:ext cx="8768824" cy="376057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4"/>
          <p:cNvSpPr txBox="1"/>
          <p:nvPr/>
        </p:nvSpPr>
        <p:spPr>
          <a:xfrm>
            <a:off x="212150" y="381875"/>
            <a:ext cx="89529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Link to Worksheet updated: </a:t>
            </a:r>
            <a:r>
              <a:rPr lang="en" u="sng">
                <a:solidFill>
                  <a:schemeClr val="hlink"/>
                </a:solidFill>
                <a:hlinkClick r:id="rId3"/>
              </a:rPr>
              <a:t>https://docs.google.com/spreadsheets/d/1h-7Za3b6KcEFIz6D08tPMivzpXTuoM9zeTp1nYcQkN0/edit?usp=sharing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600"/>
              <a:t>Snapshot of the worksheet is below:</a:t>
            </a:r>
            <a:endParaRPr sz="1600"/>
          </a:p>
          <a:p>
            <a:pPr indent="0" lvl="0" marL="0" rtl="0" algn="l">
              <a:spcBef>
                <a:spcPts val="0"/>
              </a:spcBef>
              <a:spcAft>
                <a:spcPts val="0"/>
              </a:spcAft>
              <a:buNone/>
            </a:pPr>
            <a:r>
              <a:t/>
            </a:r>
            <a:endParaRPr/>
          </a:p>
        </p:txBody>
      </p:sp>
      <p:pic>
        <p:nvPicPr>
          <p:cNvPr id="125" name="Google Shape;125;p34" title="Sprint 6 Worksheet.png"/>
          <p:cNvPicPr preferRelativeResize="0"/>
          <p:nvPr/>
        </p:nvPicPr>
        <p:blipFill>
          <a:blip r:embed="rId4">
            <a:alphaModFix/>
          </a:blip>
          <a:stretch>
            <a:fillRect/>
          </a:stretch>
        </p:blipFill>
        <p:spPr>
          <a:xfrm>
            <a:off x="95475" y="1991175"/>
            <a:ext cx="9991424" cy="2061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29" name="Shape 129"/>
        <p:cNvGrpSpPr/>
        <p:nvPr/>
      </p:nvGrpSpPr>
      <p:grpSpPr>
        <a:xfrm>
          <a:off x="0" y="0"/>
          <a:ext cx="0" cy="0"/>
          <a:chOff x="0" y="0"/>
          <a:chExt cx="0" cy="0"/>
        </a:xfrm>
      </p:grpSpPr>
      <p:sp>
        <p:nvSpPr>
          <p:cNvPr id="130" name="Google Shape;130;p35"/>
          <p:cNvSpPr txBox="1"/>
          <p:nvPr>
            <p:ph type="ctrTitle"/>
          </p:nvPr>
        </p:nvSpPr>
        <p:spPr>
          <a:xfrm>
            <a:off x="96875" y="3487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Benefits of the Workflow</a:t>
            </a:r>
            <a:endParaRPr sz="4000">
              <a:solidFill>
                <a:srgbClr val="1A1A1A"/>
              </a:solidFill>
              <a:latin typeface="Inter ExtraBold"/>
              <a:ea typeface="Inter ExtraBold"/>
              <a:cs typeface="Inter ExtraBold"/>
              <a:sym typeface="Inter ExtraBold"/>
            </a:endParaRPr>
          </a:p>
        </p:txBody>
      </p:sp>
      <p:sp>
        <p:nvSpPr>
          <p:cNvPr id="131" name="Google Shape;131;p35"/>
          <p:cNvSpPr/>
          <p:nvPr/>
        </p:nvSpPr>
        <p:spPr>
          <a:xfrm>
            <a:off x="228600" y="1375825"/>
            <a:ext cx="2722200" cy="3539100"/>
          </a:xfrm>
          <a:prstGeom prst="snip2DiagRect">
            <a:avLst>
              <a:gd fmla="val 0" name="adj1"/>
              <a:gd fmla="val 9217" name="adj2"/>
            </a:avLst>
          </a:prstGeom>
          <a:solidFill>
            <a:schemeClr val="lt1"/>
          </a:solidFill>
          <a:ln>
            <a:noFill/>
          </a:ln>
        </p:spPr>
        <p:txBody>
          <a:bodyPr anchorCtr="0" anchor="t" bIns="274300" lIns="91425" spcFirstLastPara="1" rIns="91425" wrap="square" tIns="91425">
            <a:noAutofit/>
          </a:bodyPr>
          <a:lstStyle/>
          <a:p>
            <a:pPr indent="0" lvl="0" marL="0" rtl="0" algn="l">
              <a:spcBef>
                <a:spcPts val="0"/>
              </a:spcBef>
              <a:spcAft>
                <a:spcPts val="0"/>
              </a:spcAft>
              <a:buNone/>
            </a:pPr>
            <a:r>
              <a:rPr lang="en" sz="2200">
                <a:solidFill>
                  <a:srgbClr val="1A1A1A"/>
                </a:solidFill>
                <a:latin typeface="Inter Medium"/>
                <a:ea typeface="Inter Medium"/>
                <a:cs typeface="Inter Medium"/>
                <a:sym typeface="Inter Medium"/>
              </a:rPr>
              <a:t>The workflow automates the task of strictly checking invoices  for the date of Sept 22, 2025 or before. This process is </a:t>
            </a:r>
            <a:r>
              <a:rPr lang="en" sz="2200">
                <a:solidFill>
                  <a:srgbClr val="1A1A1A"/>
                </a:solidFill>
                <a:latin typeface="Inter Medium"/>
                <a:ea typeface="Inter Medium"/>
                <a:cs typeface="Inter Medium"/>
                <a:sym typeface="Inter Medium"/>
              </a:rPr>
              <a:t>seamless</a:t>
            </a:r>
            <a:r>
              <a:rPr lang="en" sz="2200">
                <a:solidFill>
                  <a:srgbClr val="1A1A1A"/>
                </a:solidFill>
                <a:latin typeface="Inter Medium"/>
                <a:ea typeface="Inter Medium"/>
                <a:cs typeface="Inter Medium"/>
                <a:sym typeface="Inter Medium"/>
              </a:rPr>
              <a:t> and </a:t>
            </a:r>
            <a:r>
              <a:rPr lang="en" sz="2200">
                <a:solidFill>
                  <a:srgbClr val="1A1A1A"/>
                </a:solidFill>
                <a:latin typeface="Inter Medium"/>
                <a:ea typeface="Inter Medium"/>
                <a:cs typeface="Inter Medium"/>
                <a:sym typeface="Inter Medium"/>
              </a:rPr>
              <a:t>error</a:t>
            </a:r>
            <a:r>
              <a:rPr lang="en" sz="2200">
                <a:solidFill>
                  <a:srgbClr val="1A1A1A"/>
                </a:solidFill>
                <a:latin typeface="Inter Medium"/>
                <a:ea typeface="Inter Medium"/>
                <a:cs typeface="Inter Medium"/>
                <a:sym typeface="Inter Medium"/>
              </a:rPr>
              <a:t> free</a:t>
            </a:r>
            <a:endParaRPr sz="2200">
              <a:solidFill>
                <a:srgbClr val="1A1A1A"/>
              </a:solidFill>
              <a:latin typeface="Inter Medium"/>
              <a:ea typeface="Inter Medium"/>
              <a:cs typeface="Inter Medium"/>
              <a:sym typeface="Inter Medium"/>
            </a:endParaRPr>
          </a:p>
        </p:txBody>
      </p:sp>
      <p:sp>
        <p:nvSpPr>
          <p:cNvPr id="132" name="Google Shape;132;p35"/>
          <p:cNvSpPr/>
          <p:nvPr/>
        </p:nvSpPr>
        <p:spPr>
          <a:xfrm>
            <a:off x="3209550" y="1375825"/>
            <a:ext cx="2724900" cy="3539100"/>
          </a:xfrm>
          <a:prstGeom prst="roundRect">
            <a:avLst>
              <a:gd fmla="val 9118" name="adj"/>
            </a:avLst>
          </a:prstGeom>
          <a:solidFill>
            <a:schemeClr val="lt1"/>
          </a:solidFill>
          <a:ln>
            <a:noFill/>
          </a:ln>
        </p:spPr>
        <p:txBody>
          <a:bodyPr anchorCtr="0" anchor="t" bIns="274300" lIns="182875" spcFirstLastPara="1" rIns="182875" wrap="square" tIns="91425">
            <a:noAutofit/>
          </a:bodyPr>
          <a:lstStyle/>
          <a:p>
            <a:pPr indent="0" lvl="0" marL="0" marR="0" rtl="0" algn="l">
              <a:spcBef>
                <a:spcPts val="0"/>
              </a:spcBef>
              <a:spcAft>
                <a:spcPts val="0"/>
              </a:spcAft>
              <a:buClr>
                <a:schemeClr val="dk1"/>
              </a:buClr>
              <a:buSzPts val="1100"/>
              <a:buFont typeface="Arial"/>
              <a:buNone/>
            </a:pPr>
            <a:r>
              <a:t/>
            </a:r>
            <a:endParaRPr sz="2200">
              <a:solidFill>
                <a:srgbClr val="1A1A1A"/>
              </a:solidFill>
              <a:latin typeface="Inter Medium"/>
              <a:ea typeface="Inter Medium"/>
              <a:cs typeface="Inter Medium"/>
              <a:sym typeface="Inter Medium"/>
            </a:endParaRPr>
          </a:p>
          <a:p>
            <a:pPr indent="0" lvl="0" marL="0" marR="0" rtl="0" algn="l">
              <a:spcBef>
                <a:spcPts val="0"/>
              </a:spcBef>
              <a:spcAft>
                <a:spcPts val="0"/>
              </a:spcAft>
              <a:buNone/>
            </a:pPr>
            <a:r>
              <a:rPr lang="en" sz="2200"/>
              <a:t>The workflow flags the unreadable </a:t>
            </a:r>
            <a:r>
              <a:rPr lang="en" sz="2200"/>
              <a:t>invoices</a:t>
            </a:r>
            <a:r>
              <a:rPr lang="en" sz="2200"/>
              <a:t> for human inspection. This task </a:t>
            </a:r>
            <a:r>
              <a:rPr lang="en" sz="2200"/>
              <a:t>enhances </a:t>
            </a:r>
            <a:r>
              <a:rPr lang="en" sz="2200"/>
              <a:t> the logic</a:t>
            </a:r>
            <a:endParaRPr sz="2200"/>
          </a:p>
        </p:txBody>
      </p:sp>
      <p:sp>
        <p:nvSpPr>
          <p:cNvPr id="133" name="Google Shape;133;p35"/>
          <p:cNvSpPr/>
          <p:nvPr/>
        </p:nvSpPr>
        <p:spPr>
          <a:xfrm>
            <a:off x="6193200" y="1375825"/>
            <a:ext cx="2724900" cy="3517800"/>
          </a:xfrm>
          <a:prstGeom prst="snip1Rect">
            <a:avLst>
              <a:gd fmla="val 9643" name="adj"/>
            </a:avLst>
          </a:prstGeom>
          <a:solidFill>
            <a:schemeClr val="lt1"/>
          </a:solidFill>
          <a:ln>
            <a:noFill/>
          </a:ln>
        </p:spPr>
        <p:txBody>
          <a:bodyPr anchorCtr="0" anchor="t" bIns="274300" lIns="274300" spcFirstLastPara="1" rIns="274300" wrap="square" tIns="91425">
            <a:noAutofit/>
          </a:bodyPr>
          <a:lstStyle/>
          <a:p>
            <a:pPr indent="0" lvl="0" marL="0" rtl="0" algn="l">
              <a:spcBef>
                <a:spcPts val="0"/>
              </a:spcBef>
              <a:spcAft>
                <a:spcPts val="0"/>
              </a:spcAft>
              <a:buClr>
                <a:schemeClr val="dk1"/>
              </a:buClr>
              <a:buSzPts val="1100"/>
              <a:buFont typeface="Arial"/>
              <a:buNone/>
            </a:pPr>
            <a:r>
              <a:t/>
            </a:r>
            <a:endParaRPr sz="2200">
              <a:solidFill>
                <a:srgbClr val="1A1A1A"/>
              </a:solidFill>
              <a:latin typeface="Inter Medium"/>
              <a:ea typeface="Inter Medium"/>
              <a:cs typeface="Inter Medium"/>
              <a:sym typeface="Inter Medium"/>
            </a:endParaRPr>
          </a:p>
          <a:p>
            <a:pPr indent="0" lvl="0" marL="0" rtl="0" algn="l">
              <a:spcBef>
                <a:spcPts val="0"/>
              </a:spcBef>
              <a:spcAft>
                <a:spcPts val="0"/>
              </a:spcAft>
              <a:buNone/>
            </a:pPr>
            <a:r>
              <a:rPr lang="en" sz="2200"/>
              <a:t>There is a lot of time saved </a:t>
            </a:r>
            <a:r>
              <a:rPr lang="en" sz="2200"/>
              <a:t>because</a:t>
            </a:r>
            <a:r>
              <a:rPr lang="en" sz="2200"/>
              <a:t> human effort for this task is zero. The manager can focus on more important tasks</a:t>
            </a:r>
            <a:endParaRPr sz="2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37" name="Shape 137"/>
        <p:cNvGrpSpPr/>
        <p:nvPr/>
      </p:nvGrpSpPr>
      <p:grpSpPr>
        <a:xfrm>
          <a:off x="0" y="0"/>
          <a:ext cx="0" cy="0"/>
          <a:chOff x="0" y="0"/>
          <a:chExt cx="0" cy="0"/>
        </a:xfrm>
      </p:grpSpPr>
      <p:pic>
        <p:nvPicPr>
          <p:cNvPr id="138" name="Google Shape;138;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9" name="Google Shape;139;p36"/>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Improvements to the workflow</a:t>
            </a:r>
            <a:endParaRPr sz="4000">
              <a:solidFill>
                <a:srgbClr val="1A1A1A"/>
              </a:solidFill>
              <a:latin typeface="Inter ExtraBold"/>
              <a:ea typeface="Inter ExtraBold"/>
              <a:cs typeface="Inter ExtraBold"/>
              <a:sym typeface="Inter ExtraBold"/>
            </a:endParaRPr>
          </a:p>
        </p:txBody>
      </p:sp>
      <p:sp>
        <p:nvSpPr>
          <p:cNvPr id="140" name="Google Shape;140;p36"/>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387350" lvl="0" marL="457200" rtl="0" algn="l">
              <a:spcBef>
                <a:spcPts val="0"/>
              </a:spcBef>
              <a:spcAft>
                <a:spcPts val="0"/>
              </a:spcAft>
              <a:buClr>
                <a:srgbClr val="1A1A1A"/>
              </a:buClr>
              <a:buSzPts val="2500"/>
              <a:buFont typeface="Inter"/>
              <a:buChar char="●"/>
            </a:pPr>
            <a:r>
              <a:rPr lang="en" sz="2500">
                <a:solidFill>
                  <a:srgbClr val="1A1A1A"/>
                </a:solidFill>
                <a:latin typeface="Inter"/>
                <a:ea typeface="Inter"/>
                <a:cs typeface="Inter"/>
                <a:sym typeface="Inter"/>
              </a:rPr>
              <a:t>The error logs for this workflow could be enhanced with more information about why the some </a:t>
            </a:r>
            <a:r>
              <a:rPr lang="en" sz="2500">
                <a:solidFill>
                  <a:srgbClr val="1A1A1A"/>
                </a:solidFill>
                <a:latin typeface="Inter"/>
                <a:ea typeface="Inter"/>
                <a:cs typeface="Inter"/>
                <a:sym typeface="Inter"/>
              </a:rPr>
              <a:t>invoices are unreadable.</a:t>
            </a:r>
            <a:endParaRPr sz="2500">
              <a:solidFill>
                <a:srgbClr val="1A1A1A"/>
              </a:solidFill>
              <a:latin typeface="Inter"/>
              <a:ea typeface="Inter"/>
              <a:cs typeface="Inter"/>
              <a:sym typeface="Inter"/>
            </a:endParaRPr>
          </a:p>
          <a:p>
            <a:pPr indent="0" lvl="0" marL="457200" rtl="0" algn="l">
              <a:spcBef>
                <a:spcPts val="0"/>
              </a:spcBef>
              <a:spcAft>
                <a:spcPts val="0"/>
              </a:spcAft>
              <a:buNone/>
            </a:pPr>
            <a:r>
              <a:t/>
            </a:r>
            <a:endParaRPr sz="2500">
              <a:solidFill>
                <a:srgbClr val="1A1A1A"/>
              </a:solidFill>
              <a:latin typeface="Inter"/>
              <a:ea typeface="Inter"/>
              <a:cs typeface="Inter"/>
              <a:sym typeface="Inter"/>
            </a:endParaRPr>
          </a:p>
          <a:p>
            <a:pPr indent="-387350" lvl="0" marL="457200" rtl="0" algn="l">
              <a:spcBef>
                <a:spcPts val="0"/>
              </a:spcBef>
              <a:spcAft>
                <a:spcPts val="0"/>
              </a:spcAft>
              <a:buClr>
                <a:srgbClr val="1A1A1A"/>
              </a:buClr>
              <a:buSzPts val="2500"/>
              <a:buFont typeface="Inter"/>
              <a:buChar char="●"/>
            </a:pPr>
            <a:r>
              <a:rPr lang="en" sz="2500">
                <a:solidFill>
                  <a:srgbClr val="1A1A1A"/>
                </a:solidFill>
                <a:latin typeface="Inter"/>
                <a:ea typeface="Inter"/>
                <a:cs typeface="Inter"/>
                <a:sym typeface="Inter"/>
              </a:rPr>
              <a:t>Some more information can be added to the Purchase description for the Invoices. The current max word limit of 15 words for the workflow can be increased.</a:t>
            </a:r>
            <a:endParaRPr sz="2500">
              <a:solidFill>
                <a:srgbClr val="1A1A1A"/>
              </a:solidFill>
              <a:latin typeface="Inter"/>
              <a:ea typeface="Inter"/>
              <a:cs typeface="Inter"/>
              <a:sym typeface="Inter"/>
            </a:endParaRPr>
          </a:p>
          <a:p>
            <a:pPr indent="0" lvl="0" marL="457200" rtl="0" algn="l">
              <a:spcBef>
                <a:spcPts val="0"/>
              </a:spcBef>
              <a:spcAft>
                <a:spcPts val="0"/>
              </a:spcAft>
              <a:buNone/>
            </a:pPr>
            <a:r>
              <a:t/>
            </a:r>
            <a:endParaRPr sz="2500">
              <a:solidFill>
                <a:srgbClr val="1A1A1A"/>
              </a:solidFill>
              <a:latin typeface="Inter"/>
              <a:ea typeface="Inter"/>
              <a:cs typeface="Inter"/>
              <a:sym typeface="Inter"/>
            </a:endParaRPr>
          </a:p>
        </p:txBody>
      </p:sp>
      <p:sp>
        <p:nvSpPr>
          <p:cNvPr id="141" name="Google Shape;141;p36"/>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