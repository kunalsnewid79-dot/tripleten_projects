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Inter"/>
      <p:regular r:id="rId20"/>
      <p:bold r:id="rId21"/>
      <p:italic r:id="rId22"/>
      <p:boldItalic r:id="rId23"/>
    </p:embeddedFont>
    <p:embeddedFont>
      <p:font typeface="Inter ExtraBold"/>
      <p:bold r:id="rId24"/>
      <p:boldItalic r:id="rId25"/>
    </p:embeddedFont>
    <p:embeddedFont>
      <p:font typeface="Inter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regular.fntdata"/><Relationship Id="rId22" Type="http://schemas.openxmlformats.org/officeDocument/2006/relationships/font" Target="fonts/Inter-italic.fntdata"/><Relationship Id="rId21" Type="http://schemas.openxmlformats.org/officeDocument/2006/relationships/font" Target="fonts/Inter-bold.fntdata"/><Relationship Id="rId24" Type="http://schemas.openxmlformats.org/officeDocument/2006/relationships/font" Target="fonts/InterExtraBold-bold.fntdata"/><Relationship Id="rId23" Type="http://schemas.openxmlformats.org/officeDocument/2006/relationships/font" Target="fonts/Inter-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InterMedium-regular.fntdata"/><Relationship Id="rId25" Type="http://schemas.openxmlformats.org/officeDocument/2006/relationships/font" Target="fonts/InterExtraBold-boldItalic.fntdata"/><Relationship Id="rId28" Type="http://schemas.openxmlformats.org/officeDocument/2006/relationships/font" Target="fonts/InterMedium-italic.fntdata"/><Relationship Id="rId27" Type="http://schemas.openxmlformats.org/officeDocument/2006/relationships/font" Target="fonts/Inter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e7cf68d7d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e7cf68d7d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e7cf68d7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e7cf68d7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871f6af7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871f6af7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6e7cf68d7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6e7cf68d7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01180bc8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01180bc8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e7cf68d7d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6e7cf68d7d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01180bc8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01180bc8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01180bc8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01180bc8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01180bc8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01180bc8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e7cf68d7d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e7cf68d7d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871f6af7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871f6af7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e7cf68d7d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e7cf68d7d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01180bc8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01180bc8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6e7cf68d7d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6e7cf68d7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 name="Shape 67"/>
        <p:cNvGrpSpPr/>
        <p:nvPr/>
      </p:nvGrpSpPr>
      <p:grpSpPr>
        <a:xfrm>
          <a:off x="0" y="0"/>
          <a:ext cx="0" cy="0"/>
          <a:chOff x="0" y="0"/>
          <a:chExt cx="0" cy="0"/>
        </a:xfrm>
      </p:grpSpPr>
      <p:sp>
        <p:nvSpPr>
          <p:cNvPr id="68" name="Google Shape;6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 name="Shape 69"/>
        <p:cNvGrpSpPr/>
        <p:nvPr/>
      </p:nvGrpSpPr>
      <p:grpSpPr>
        <a:xfrm>
          <a:off x="0" y="0"/>
          <a:ext cx="0" cy="0"/>
          <a:chOff x="0" y="0"/>
          <a:chExt cx="0" cy="0"/>
        </a:xfrm>
      </p:grpSpPr>
      <p:sp>
        <p:nvSpPr>
          <p:cNvPr id="70" name="Google Shape;7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2.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hyperlink" Target="https://miro.com/welcomeonboard/Z2NlNDQzQk9ySEJraHpTN1Nha1lqcjFBUzJkTEtiQmlnalZiZVVCZUNoS0NlTzROZGhNcDdDY3FOZXZlKzNMMEVhbU50elVDNHhCRy9PZk5CL2pRZ1VQZlRWZ3NNMU9RSWJpRnFZK3pqOTh2ZUUyMjFpSHM1eEtkcnpyQkRFZ1FnbHpza3F6REdEcmNpNEFOMmJXWXBBPT0hdjE=?share_link_id=71752410874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28"/>
          <p:cNvSpPr txBox="1"/>
          <p:nvPr>
            <p:ph idx="4294967295" type="ctrTitle"/>
          </p:nvPr>
        </p:nvSpPr>
        <p:spPr>
          <a:xfrm>
            <a:off x="64008" y="638300"/>
            <a:ext cx="8520600" cy="25029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5800">
                <a:solidFill>
                  <a:srgbClr val="1A1A1A"/>
                </a:solidFill>
                <a:latin typeface="Inter ExtraBold"/>
                <a:ea typeface="Inter ExtraBold"/>
                <a:cs typeface="Inter ExtraBold"/>
                <a:sym typeface="Inter ExtraBold"/>
              </a:rPr>
              <a:t>AI-Powered Customer Support Workflow</a:t>
            </a:r>
            <a:endParaRPr sz="5800">
              <a:solidFill>
                <a:srgbClr val="1A1A1A"/>
              </a:solidFill>
              <a:latin typeface="Inter ExtraBold"/>
              <a:ea typeface="Inter ExtraBold"/>
              <a:cs typeface="Inter ExtraBold"/>
              <a:sym typeface="Inter ExtraBold"/>
            </a:endParaRPr>
          </a:p>
          <a:p>
            <a:pPr indent="0" lvl="0" marL="0" rtl="0" algn="l">
              <a:lnSpc>
                <a:spcPct val="90000"/>
              </a:lnSpc>
              <a:spcBef>
                <a:spcPts val="0"/>
              </a:spcBef>
              <a:spcAft>
                <a:spcPts val="0"/>
              </a:spcAft>
              <a:buNone/>
            </a:pPr>
            <a:r>
              <a:rPr lang="en" sz="5800">
                <a:solidFill>
                  <a:srgbClr val="1A1A1A"/>
                </a:solidFill>
                <a:latin typeface="Inter ExtraBold"/>
                <a:ea typeface="Inter ExtraBold"/>
                <a:cs typeface="Inter ExtraBold"/>
                <a:sym typeface="Inter ExtraBold"/>
              </a:rPr>
              <a:t>Kunal Gaurav</a:t>
            </a:r>
            <a:endParaRPr sz="5800">
              <a:solidFill>
                <a:srgbClr val="1A1A1A"/>
              </a:solidFill>
              <a:latin typeface="Inter ExtraBold"/>
              <a:ea typeface="Inter ExtraBold"/>
              <a:cs typeface="Inter ExtraBold"/>
              <a:sym typeface="Inter ExtraBold"/>
            </a:endParaRPr>
          </a:p>
        </p:txBody>
      </p:sp>
      <p:pic>
        <p:nvPicPr>
          <p:cNvPr id="83" name="Google Shape;83;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84" name="Google Shape;84;p28"/>
          <p:cNvSpPr txBox="1"/>
          <p:nvPr>
            <p:ph idx="4294967295" type="subTitle"/>
          </p:nvPr>
        </p:nvSpPr>
        <p:spPr>
          <a:xfrm>
            <a:off x="152400" y="4600950"/>
            <a:ext cx="86868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rgbClr val="2A2A2A"/>
                </a:solidFill>
                <a:latin typeface="Inter Medium"/>
                <a:ea typeface="Inter Medium"/>
                <a:cs typeface="Inter Medium"/>
                <a:sym typeface="Inter Medium"/>
              </a:rPr>
              <a:t>AI Automation | Project 1 </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8" name="Shape 88"/>
        <p:cNvGrpSpPr/>
        <p:nvPr/>
      </p:nvGrpSpPr>
      <p:grpSpPr>
        <a:xfrm>
          <a:off x="0" y="0"/>
          <a:ext cx="0" cy="0"/>
          <a:chOff x="0" y="0"/>
          <a:chExt cx="0" cy="0"/>
        </a:xfrm>
      </p:grpSpPr>
      <p:sp>
        <p:nvSpPr>
          <p:cNvPr id="89" name="Google Shape;89;p29"/>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Introduction</a:t>
            </a:r>
            <a:endParaRPr sz="4000">
              <a:solidFill>
                <a:srgbClr val="1A1A1A"/>
              </a:solidFill>
              <a:latin typeface="Inter ExtraBold"/>
              <a:ea typeface="Inter ExtraBold"/>
              <a:cs typeface="Inter ExtraBold"/>
              <a:sym typeface="Inter ExtraBold"/>
            </a:endParaRPr>
          </a:p>
        </p:txBody>
      </p:sp>
      <p:sp>
        <p:nvSpPr>
          <p:cNvPr id="90" name="Google Shape;90;p29"/>
          <p:cNvSpPr txBox="1"/>
          <p:nvPr>
            <p:ph idx="1" type="subTitle"/>
          </p:nvPr>
        </p:nvSpPr>
        <p:spPr>
          <a:xfrm>
            <a:off x="139800" y="1154050"/>
            <a:ext cx="8520600" cy="37608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1200"/>
              </a:spcBef>
              <a:spcAft>
                <a:spcPts val="0"/>
              </a:spcAft>
              <a:buNone/>
            </a:pPr>
            <a:r>
              <a:rPr lang="en" sz="1800">
                <a:solidFill>
                  <a:srgbClr val="1A1A1A"/>
                </a:solidFill>
                <a:latin typeface="Inter"/>
                <a:ea typeface="Inter"/>
                <a:cs typeface="Inter"/>
                <a:sym typeface="Inter"/>
              </a:rPr>
              <a:t>Old and antiquated Customer support Workflows are very cumbersome and buggy. They contain Business Processes that end up in long wait times for the Customer, unresolved Issues and poor live human agent interactions.</a:t>
            </a:r>
            <a:endParaRPr sz="1800">
              <a:solidFill>
                <a:srgbClr val="1A1A1A"/>
              </a:solidFill>
              <a:latin typeface="Inter"/>
              <a:ea typeface="Inter"/>
              <a:cs typeface="Inter"/>
              <a:sym typeface="Inter"/>
            </a:endParaRPr>
          </a:p>
          <a:p>
            <a:pPr indent="0" lvl="0" marL="457200" rtl="0" algn="l">
              <a:lnSpc>
                <a:spcPct val="115000"/>
              </a:lnSpc>
              <a:spcBef>
                <a:spcPts val="1200"/>
              </a:spcBef>
              <a:spcAft>
                <a:spcPts val="0"/>
              </a:spcAft>
              <a:buNone/>
            </a:pPr>
            <a:r>
              <a:rPr lang="en" sz="1800">
                <a:solidFill>
                  <a:srgbClr val="1A1A1A"/>
                </a:solidFill>
                <a:latin typeface="Inter"/>
                <a:ea typeface="Inter"/>
                <a:cs typeface="Inter"/>
                <a:sym typeface="Inter"/>
              </a:rPr>
              <a:t>This study aims to analyze one such poor and antiquated Customer support workflow and suggest AI powered improvements to it.</a:t>
            </a:r>
            <a:endParaRPr sz="1800">
              <a:solidFill>
                <a:srgbClr val="1A1A1A"/>
              </a:solidFill>
              <a:latin typeface="Inter"/>
              <a:ea typeface="Inter"/>
              <a:cs typeface="Inter"/>
              <a:sym typeface="Inter"/>
            </a:endParaRPr>
          </a:p>
          <a:p>
            <a:pPr indent="0" lvl="0" marL="457200" rtl="0" algn="l">
              <a:lnSpc>
                <a:spcPct val="115000"/>
              </a:lnSpc>
              <a:spcBef>
                <a:spcPts val="1200"/>
              </a:spcBef>
              <a:spcAft>
                <a:spcPts val="1200"/>
              </a:spcAft>
              <a:buNone/>
            </a:pPr>
            <a:r>
              <a:rPr lang="en" sz="1800">
                <a:solidFill>
                  <a:srgbClr val="1A1A1A"/>
                </a:solidFill>
                <a:latin typeface="Inter"/>
                <a:ea typeface="Inter"/>
                <a:cs typeface="Inter"/>
                <a:sym typeface="Inter"/>
              </a:rPr>
              <a:t>AI powered workflows get rid of such </a:t>
            </a:r>
            <a:r>
              <a:rPr lang="en" sz="1800">
                <a:solidFill>
                  <a:srgbClr val="1A1A1A"/>
                </a:solidFill>
                <a:latin typeface="Inter"/>
                <a:ea typeface="Inter"/>
                <a:cs typeface="Inter"/>
                <a:sym typeface="Inter"/>
              </a:rPr>
              <a:t>inefficiencies</a:t>
            </a:r>
            <a:r>
              <a:rPr lang="en" sz="1800">
                <a:solidFill>
                  <a:srgbClr val="1A1A1A"/>
                </a:solidFill>
                <a:latin typeface="Inter"/>
                <a:ea typeface="Inter"/>
                <a:cs typeface="Inter"/>
                <a:sym typeface="Inter"/>
              </a:rPr>
              <a:t> by </a:t>
            </a:r>
            <a:r>
              <a:rPr lang="en" sz="1800">
                <a:solidFill>
                  <a:srgbClr val="1A1A1A"/>
                </a:solidFill>
                <a:latin typeface="Inter"/>
                <a:ea typeface="Inter"/>
                <a:cs typeface="Inter"/>
                <a:sym typeface="Inter"/>
              </a:rPr>
              <a:t>providing</a:t>
            </a:r>
            <a:r>
              <a:rPr lang="en" sz="1800">
                <a:solidFill>
                  <a:srgbClr val="1A1A1A"/>
                </a:solidFill>
                <a:latin typeface="Inter"/>
                <a:ea typeface="Inter"/>
                <a:cs typeface="Inter"/>
                <a:sym typeface="Inter"/>
              </a:rPr>
              <a:t> automated workflows that speed up response times, implement effective skills based routing of Customer calls and efficient live agent interactions with the Customer.  </a:t>
            </a:r>
            <a:endParaRPr sz="1800">
              <a:solidFill>
                <a:srgbClr val="1A1A1A"/>
              </a:solidFill>
              <a:latin typeface="Inter"/>
              <a:ea typeface="Inter"/>
              <a:cs typeface="Inter"/>
              <a:sym typeface="Inter"/>
            </a:endParaRPr>
          </a:p>
        </p:txBody>
      </p:sp>
      <p:sp>
        <p:nvSpPr>
          <p:cNvPr id="91" name="Google Shape;91;p29"/>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0"/>
          <p:cNvSpPr txBox="1"/>
          <p:nvPr/>
        </p:nvSpPr>
        <p:spPr>
          <a:xfrm>
            <a:off x="175775" y="183425"/>
            <a:ext cx="85980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CURRENT CUSTOMER CALL WORKFLOW:</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Customers submit their queries via Phone, Email, Web forms and Social Media Messages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CSRs manually log each entry into the CRM system</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Supervisors route the call to the appropriate CSR depending on the context of the call like complaint, issue or urgent complaint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Assigned CSRs send email acknowledgments to the Customers </a:t>
            </a:r>
            <a:r>
              <a:rPr lang="en"/>
              <a:t>providing</a:t>
            </a:r>
            <a:r>
              <a:rPr lang="en"/>
              <a:t> confirmation of their enquiry and estimated resolution times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CSRs </a:t>
            </a:r>
            <a:r>
              <a:rPr lang="en"/>
              <a:t>resolve</a:t>
            </a:r>
            <a:r>
              <a:rPr lang="en"/>
              <a:t> customer issues and communicate the solutions with the Customers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Complex and unresolved issues are escalated to higher level support and specialized teams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After resolution of the issue, the Customers </a:t>
            </a:r>
            <a:r>
              <a:rPr lang="en"/>
              <a:t>receive</a:t>
            </a:r>
            <a:r>
              <a:rPr lang="en"/>
              <a:t> a feedback form</a:t>
            </a:r>
            <a:endParaRPr/>
          </a:p>
          <a:p>
            <a:pPr indent="0" lvl="0" marL="457200" rtl="0" algn="l">
              <a:spcBef>
                <a:spcPts val="0"/>
              </a:spcBef>
              <a:spcAft>
                <a:spcPts val="0"/>
              </a:spcAft>
              <a:buNone/>
            </a:pP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00" name="Shape 100"/>
        <p:cNvGrpSpPr/>
        <p:nvPr/>
      </p:nvGrpSpPr>
      <p:grpSpPr>
        <a:xfrm>
          <a:off x="0" y="0"/>
          <a:ext cx="0" cy="0"/>
          <a:chOff x="0" y="0"/>
          <a:chExt cx="0" cy="0"/>
        </a:xfrm>
      </p:grpSpPr>
      <p:sp>
        <p:nvSpPr>
          <p:cNvPr id="101" name="Google Shape;101;p31"/>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Current Workflow Overview</a:t>
            </a:r>
            <a:endParaRPr sz="4000">
              <a:solidFill>
                <a:srgbClr val="1A1A1A"/>
              </a:solidFill>
              <a:latin typeface="Inter ExtraBold"/>
              <a:ea typeface="Inter ExtraBold"/>
              <a:cs typeface="Inter ExtraBold"/>
              <a:sym typeface="Inter ExtraBold"/>
            </a:endParaRPr>
          </a:p>
        </p:txBody>
      </p:sp>
      <p:pic>
        <p:nvPicPr>
          <p:cNvPr id="102" name="Google Shape;102;p31" title="Customer_Support_Workflow.jpg"/>
          <p:cNvPicPr preferRelativeResize="0"/>
          <p:nvPr/>
        </p:nvPicPr>
        <p:blipFill>
          <a:blip r:embed="rId3">
            <a:alphaModFix/>
          </a:blip>
          <a:stretch>
            <a:fillRect/>
          </a:stretch>
        </p:blipFill>
        <p:spPr>
          <a:xfrm>
            <a:off x="909025" y="1339575"/>
            <a:ext cx="5794903" cy="36133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2"/>
          <p:cNvSpPr txBox="1"/>
          <p:nvPr/>
        </p:nvSpPr>
        <p:spPr>
          <a:xfrm>
            <a:off x="99350" y="626700"/>
            <a:ext cx="8598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Here is the link to the flowchart if the font appears too small: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https://miro.com/welcomeonboard/N095QVd6Q2crc3FjdTlKSGhsdUVsbmdYRWt1aE1BQVc5NlNZN0gzV0lqd0FxYk1YUTI1TGJyWjJqdkplZTVHcnBCd2ZJZ0QxbzQrV1E0akd1UXhKYWtQZlRWZ3NNMU9RSWJpRnFZK3pqOTlJVy8rVThiWWpSREhjeW5ZWlZ4WkFBd044SHFHaVlWYWk0d3NxeHNmeG9BPT0hdjE=?share_link_id=132041628956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11" name="Shape 111"/>
        <p:cNvGrpSpPr/>
        <p:nvPr/>
      </p:nvGrpSpPr>
      <p:grpSpPr>
        <a:xfrm>
          <a:off x="0" y="0"/>
          <a:ext cx="0" cy="0"/>
          <a:chOff x="0" y="0"/>
          <a:chExt cx="0" cy="0"/>
        </a:xfrm>
      </p:grpSpPr>
      <p:sp>
        <p:nvSpPr>
          <p:cNvPr id="112" name="Google Shape;112;p33"/>
          <p:cNvSpPr txBox="1"/>
          <p:nvPr>
            <p:ph type="ctrTitle"/>
          </p:nvPr>
        </p:nvSpPr>
        <p:spPr>
          <a:xfrm>
            <a:off x="96875" y="28372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Key Problems Identified</a:t>
            </a:r>
            <a:endParaRPr sz="4000">
              <a:solidFill>
                <a:srgbClr val="1A1A1A"/>
              </a:solidFill>
              <a:latin typeface="Inter ExtraBold"/>
              <a:ea typeface="Inter ExtraBold"/>
              <a:cs typeface="Inter ExtraBold"/>
              <a:sym typeface="Inter ExtraBold"/>
            </a:endParaRPr>
          </a:p>
        </p:txBody>
      </p:sp>
      <p:sp>
        <p:nvSpPr>
          <p:cNvPr id="113" name="Google Shape;113;p33"/>
          <p:cNvSpPr/>
          <p:nvPr/>
        </p:nvSpPr>
        <p:spPr>
          <a:xfrm>
            <a:off x="228600" y="1225375"/>
            <a:ext cx="8686800" cy="3918000"/>
          </a:xfrm>
          <a:prstGeom prst="roundRect">
            <a:avLst>
              <a:gd fmla="val 5630" name="adj"/>
            </a:avLst>
          </a:prstGeom>
          <a:solidFill>
            <a:schemeClr val="lt1"/>
          </a:solidFill>
          <a:ln>
            <a:noFill/>
          </a:ln>
        </p:spPr>
        <p:txBody>
          <a:bodyPr anchorCtr="0" anchor="t" bIns="0" lIns="91425" spcFirstLastPara="1" rIns="91425" wrap="square" tIns="91425">
            <a:noAutofit/>
          </a:bodyPr>
          <a:lstStyle/>
          <a:p>
            <a:pPr indent="0" lvl="0" marL="0" rtl="0" algn="l">
              <a:lnSpc>
                <a:spcPct val="115000"/>
              </a:lnSpc>
              <a:spcBef>
                <a:spcPts val="1400"/>
              </a:spcBef>
              <a:spcAft>
                <a:spcPts val="0"/>
              </a:spcAft>
              <a:buNone/>
            </a:pPr>
            <a:r>
              <a:rPr lang="en" sz="1200">
                <a:solidFill>
                  <a:schemeClr val="dk1"/>
                </a:solidFill>
              </a:rPr>
              <a:t>The complaints data is analyzed by Chatgpt to </a:t>
            </a:r>
            <a:r>
              <a:rPr lang="en" sz="1200">
                <a:solidFill>
                  <a:schemeClr val="dk1"/>
                </a:solidFill>
              </a:rPr>
              <a:t>generate</a:t>
            </a:r>
            <a:r>
              <a:rPr lang="en" sz="1200">
                <a:solidFill>
                  <a:schemeClr val="dk1"/>
                </a:solidFill>
              </a:rPr>
              <a:t> the list of the 3 most </a:t>
            </a:r>
            <a:r>
              <a:rPr lang="en" sz="1200">
                <a:solidFill>
                  <a:schemeClr val="dk1"/>
                </a:solidFill>
              </a:rPr>
              <a:t>common</a:t>
            </a:r>
            <a:r>
              <a:rPr lang="en" sz="1200">
                <a:solidFill>
                  <a:schemeClr val="dk1"/>
                </a:solidFill>
              </a:rPr>
              <a:t> complaints bu the Customers.</a:t>
            </a:r>
            <a:endParaRPr sz="1200">
              <a:solidFill>
                <a:schemeClr val="dk1"/>
              </a:solidFill>
            </a:endParaRPr>
          </a:p>
          <a:p>
            <a:pPr indent="0" lvl="0" marL="0" rtl="0" algn="l">
              <a:lnSpc>
                <a:spcPct val="115000"/>
              </a:lnSpc>
              <a:spcBef>
                <a:spcPts val="1400"/>
              </a:spcBef>
              <a:spcAft>
                <a:spcPts val="0"/>
              </a:spcAft>
              <a:buNone/>
            </a:pPr>
            <a:r>
              <a:rPr b="1" lang="en" sz="1200">
                <a:solidFill>
                  <a:schemeClr val="dk1"/>
                </a:solidFill>
              </a:rPr>
              <a:t>1. Poor resolution / issue not solved</a:t>
            </a:r>
            <a:endParaRPr b="1" sz="1200">
              <a:solidFill>
                <a:schemeClr val="dk1"/>
              </a:solidFill>
            </a:endParaRPr>
          </a:p>
          <a:p>
            <a:pPr indent="0" lvl="0" marL="0" rtl="0" algn="l">
              <a:lnSpc>
                <a:spcPct val="115000"/>
              </a:lnSpc>
              <a:spcBef>
                <a:spcPts val="1200"/>
              </a:spcBef>
              <a:spcAft>
                <a:spcPts val="0"/>
              </a:spcAft>
              <a:buNone/>
            </a:pPr>
            <a:r>
              <a:rPr lang="en" sz="1000">
                <a:solidFill>
                  <a:schemeClr val="dk1"/>
                </a:solidFill>
              </a:rPr>
              <a:t>This appears most frequently. Customers repeatedly mention:</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 sz="1000">
                <a:solidFill>
                  <a:schemeClr val="dk1"/>
                </a:solidFill>
              </a:rPr>
              <a:t>Issues not resolved on first contact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Having to follow up multiple times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Tickets being closed without resolution</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No clear timeline or updates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rPr>
              <a:t>Being redirected elsewhere or escalated without results</a:t>
            </a:r>
            <a:endParaRPr sz="1000">
              <a:solidFill>
                <a:schemeClr val="dk1"/>
              </a:solidFill>
            </a:endParaRPr>
          </a:p>
          <a:p>
            <a:pPr indent="0" lvl="0" marL="0" rtl="0" algn="l">
              <a:lnSpc>
                <a:spcPct val="115000"/>
              </a:lnSpc>
              <a:spcBef>
                <a:spcPts val="1400"/>
              </a:spcBef>
              <a:spcAft>
                <a:spcPts val="0"/>
              </a:spcAft>
              <a:buNone/>
            </a:pPr>
            <a:r>
              <a:rPr b="1" lang="en" sz="1200">
                <a:solidFill>
                  <a:schemeClr val="dk1"/>
                </a:solidFill>
              </a:rPr>
              <a:t>2. Inefficient support process (transfers, repetition, delays)</a:t>
            </a:r>
            <a:endParaRPr sz="1000">
              <a:solidFill>
                <a:schemeClr val="dk1"/>
              </a:solidFill>
            </a:endParaRPr>
          </a:p>
          <a:p>
            <a:pPr indent="-292100" lvl="0" marL="457200" rtl="0" algn="l">
              <a:lnSpc>
                <a:spcPct val="115000"/>
              </a:lnSpc>
              <a:spcBef>
                <a:spcPts val="1200"/>
              </a:spcBef>
              <a:spcAft>
                <a:spcPts val="0"/>
              </a:spcAft>
              <a:buClr>
                <a:schemeClr val="dk1"/>
              </a:buClr>
              <a:buSzPts val="1000"/>
              <a:buAutoNum type="arabicPeriod"/>
            </a:pPr>
            <a:r>
              <a:rPr lang="en" sz="1000">
                <a:solidFill>
                  <a:schemeClr val="dk1"/>
                </a:solidFill>
              </a:rPr>
              <a:t>Long hold times and slow responses (phone, chat, email)</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rPr>
              <a:t>Being transferred multiple times</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rPr>
              <a:t>Having to repeat the same information</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rPr>
              <a:t>Disconnections and restarting the process</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 sz="1000">
                <a:solidFill>
                  <a:schemeClr val="dk1"/>
                </a:solidFill>
              </a:rPr>
              <a:t>Missed callbacks</a:t>
            </a:r>
            <a:endParaRPr sz="1000">
              <a:solidFill>
                <a:schemeClr val="dk1"/>
              </a:solidFill>
            </a:endParaRPr>
          </a:p>
          <a:p>
            <a:pPr indent="0" lvl="0" marL="0" rtl="0" algn="l">
              <a:lnSpc>
                <a:spcPct val="115000"/>
              </a:lnSpc>
              <a:spcBef>
                <a:spcPts val="1400"/>
              </a:spcBef>
              <a:spcAft>
                <a:spcPts val="0"/>
              </a:spcAft>
              <a:buNone/>
            </a:pPr>
            <a:r>
              <a:t/>
            </a:r>
            <a:endParaRPr b="1" sz="1200">
              <a:solidFill>
                <a:schemeClr val="dk1"/>
              </a:solidFill>
            </a:endParaRPr>
          </a:p>
          <a:p>
            <a:pPr indent="0" lvl="0" marL="457200" rtl="0" algn="l">
              <a:lnSpc>
                <a:spcPct val="115000"/>
              </a:lnSpc>
              <a:spcBef>
                <a:spcPts val="400"/>
              </a:spcBef>
              <a:spcAft>
                <a:spcPts val="1200"/>
              </a:spcAft>
              <a:buNone/>
            </a:pPr>
            <a:r>
              <a:t/>
            </a:r>
            <a:endParaRPr sz="2000">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4"/>
          <p:cNvSpPr txBox="1"/>
          <p:nvPr/>
        </p:nvSpPr>
        <p:spPr>
          <a:xfrm>
            <a:off x="298050" y="99350"/>
            <a:ext cx="8773800" cy="591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b="1" sz="1300">
              <a:solidFill>
                <a:schemeClr val="dk1"/>
              </a:solidFill>
            </a:endParaRPr>
          </a:p>
          <a:p>
            <a:pPr indent="0" lvl="0" marL="0" rtl="0" algn="l">
              <a:lnSpc>
                <a:spcPct val="115000"/>
              </a:lnSpc>
              <a:spcBef>
                <a:spcPts val="1400"/>
              </a:spcBef>
              <a:spcAft>
                <a:spcPts val="0"/>
              </a:spcAft>
              <a:buNone/>
            </a:pPr>
            <a:r>
              <a:rPr b="1" lang="en" sz="1300">
                <a:solidFill>
                  <a:schemeClr val="dk1"/>
                </a:solidFill>
              </a:rPr>
              <a:t>3. Poor agent quality (knowledge, communication, attitude)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Rude, impatient, or unhelpful agents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Lack of product knowledge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Scripted or generic responses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Not listening or interrupting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Giving incorrect or conflicting information</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Looking at the </a:t>
            </a:r>
            <a:r>
              <a:rPr lang="en" sz="1100">
                <a:solidFill>
                  <a:schemeClr val="dk1"/>
                </a:solidFill>
              </a:rPr>
              <a:t>analysis of data, it is clear that most of the issues like poor Customer Support and long wait time arise due to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The manual step of CSRs logging in data into the CRM system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Not routing the call to an agent that has the skill set to resolve customer issues(Supervisors having to do this manual step)</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Lack of knowledge base for the CSRs to refer to and respond appropriately to the Customer.</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Manual process of sending feedback forms to the customer.</a:t>
            </a:r>
            <a:endParaRPr sz="1100">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5"/>
          <p:cNvSpPr txBox="1"/>
          <p:nvPr/>
        </p:nvSpPr>
        <p:spPr>
          <a:xfrm>
            <a:off x="68775" y="206350"/>
            <a:ext cx="8949600" cy="529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t>Proposed</a:t>
            </a:r>
            <a:r>
              <a:rPr lang="en" sz="2200"/>
              <a:t> AI Solutions</a:t>
            </a:r>
            <a:endParaRPr sz="2200"/>
          </a:p>
          <a:p>
            <a:pPr indent="0" lvl="0" marL="0" rtl="0" algn="ctr">
              <a:spcBef>
                <a:spcPts val="0"/>
              </a:spcBef>
              <a:spcAft>
                <a:spcPts val="0"/>
              </a:spcAft>
              <a:buNone/>
            </a:pPr>
            <a:r>
              <a:t/>
            </a:r>
            <a:endParaRPr/>
          </a:p>
          <a:p>
            <a:pPr indent="0" lvl="0" marL="0" rtl="0" algn="l">
              <a:spcBef>
                <a:spcPts val="0"/>
              </a:spcBef>
              <a:spcAft>
                <a:spcPts val="0"/>
              </a:spcAft>
              <a:buNone/>
            </a:pPr>
            <a:r>
              <a:rPr lang="en"/>
              <a:t>Google Cloud Contact Center AI (CCAI) does the following for </a:t>
            </a:r>
            <a:r>
              <a:rPr b="1" lang="en"/>
              <a:t>Voice calls</a:t>
            </a:r>
            <a:r>
              <a:rPr lang="en"/>
              <a:t>: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Voice bots handle Natural language inputs by using Natural Language Processing (NLP)</a:t>
            </a:r>
            <a:endParaRPr/>
          </a:p>
          <a:p>
            <a:pPr indent="-317500" lvl="0" marL="457200" rtl="0" algn="l">
              <a:spcBef>
                <a:spcPts val="0"/>
              </a:spcBef>
              <a:spcAft>
                <a:spcPts val="0"/>
              </a:spcAft>
              <a:buSzPts val="1400"/>
              <a:buChar char="●"/>
            </a:pPr>
            <a:r>
              <a:rPr lang="en"/>
              <a:t>Generic Customer questions don’t need to be routed to a live agent</a:t>
            </a:r>
            <a:endParaRPr/>
          </a:p>
          <a:p>
            <a:pPr indent="-317500" lvl="0" marL="457200" rtl="0" algn="l">
              <a:spcBef>
                <a:spcPts val="0"/>
              </a:spcBef>
              <a:spcAft>
                <a:spcPts val="0"/>
              </a:spcAft>
              <a:buSzPts val="1400"/>
              <a:buChar char="●"/>
            </a:pPr>
            <a:r>
              <a:rPr lang="en"/>
              <a:t>Real time intent detection routes calls to the correct agent if the Customer question is complex </a:t>
            </a:r>
            <a:r>
              <a:rPr lang="en"/>
              <a:t>requiring</a:t>
            </a:r>
            <a:r>
              <a:rPr lang="en"/>
              <a:t> </a:t>
            </a:r>
            <a:endParaRPr/>
          </a:p>
          <a:p>
            <a:pPr indent="0" lvl="0" marL="457200" rtl="0" algn="l">
              <a:spcBef>
                <a:spcPts val="0"/>
              </a:spcBef>
              <a:spcAft>
                <a:spcPts val="0"/>
              </a:spcAft>
              <a:buNone/>
            </a:pPr>
            <a:r>
              <a:rPr lang="en"/>
              <a:t>a live </a:t>
            </a:r>
            <a:r>
              <a:rPr lang="en"/>
              <a:t>human</a:t>
            </a:r>
            <a:r>
              <a:rPr lang="en"/>
              <a:t> agent </a:t>
            </a:r>
            <a:endParaRPr/>
          </a:p>
          <a:p>
            <a:pPr indent="-317500" lvl="0" marL="457200" rtl="0" algn="l">
              <a:spcBef>
                <a:spcPts val="0"/>
              </a:spcBef>
              <a:spcAft>
                <a:spcPts val="0"/>
              </a:spcAft>
              <a:buSzPts val="1400"/>
              <a:buChar char="●"/>
            </a:pPr>
            <a:r>
              <a:rPr lang="en"/>
              <a:t>Assists Live agent with responses to the calls</a:t>
            </a:r>
            <a:endParaRPr/>
          </a:p>
          <a:p>
            <a:pPr indent="-317500" lvl="0" marL="457200" rtl="0" algn="l">
              <a:spcBef>
                <a:spcPts val="0"/>
              </a:spcBef>
              <a:spcAft>
                <a:spcPts val="0"/>
              </a:spcAft>
              <a:buSzPts val="1400"/>
              <a:buChar char="●"/>
            </a:pPr>
            <a:r>
              <a:rPr lang="en"/>
              <a:t>Automatically logs all calls with call data, recordings and transcripts into the CRM system</a:t>
            </a:r>
            <a:endParaRPr/>
          </a:p>
          <a:p>
            <a:pPr indent="-317500" lvl="0" marL="457200" rtl="0" algn="l">
              <a:spcBef>
                <a:spcPts val="0"/>
              </a:spcBef>
              <a:spcAft>
                <a:spcPts val="0"/>
              </a:spcAft>
              <a:buSzPts val="1400"/>
              <a:buChar char="●"/>
            </a:pPr>
            <a:r>
              <a:rPr lang="en"/>
              <a:t>CCAI offers a built-in feedback system to the </a:t>
            </a:r>
            <a:r>
              <a:rPr lang="en"/>
              <a:t>customer</a:t>
            </a:r>
            <a:r>
              <a:rPr lang="en"/>
              <a:t> after an administrator enables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Salesforce Service Cloud (with Einstein AI) does the following for </a:t>
            </a:r>
            <a:r>
              <a:rPr b="1" lang="en"/>
              <a:t>Email, Web contact forms</a:t>
            </a:r>
            <a:r>
              <a:rPr lang="en"/>
              <a:t> :</a:t>
            </a:r>
            <a:endParaRPr/>
          </a:p>
          <a:p>
            <a:pPr indent="-317500" lvl="0" marL="457200" rtl="0" algn="l">
              <a:spcBef>
                <a:spcPts val="0"/>
              </a:spcBef>
              <a:spcAft>
                <a:spcPts val="0"/>
              </a:spcAft>
              <a:buSzPts val="1400"/>
              <a:buChar char="●"/>
            </a:pPr>
            <a:r>
              <a:rPr lang="en"/>
              <a:t>AI (Einstein) classifies and routes cases automatically to the correct Agent</a:t>
            </a:r>
            <a:endParaRPr/>
          </a:p>
          <a:p>
            <a:pPr indent="-317500" lvl="0" marL="457200" rtl="0" algn="l">
              <a:spcBef>
                <a:spcPts val="0"/>
              </a:spcBef>
              <a:spcAft>
                <a:spcPts val="0"/>
              </a:spcAft>
              <a:buSzPts val="1400"/>
              <a:buChar char="●"/>
            </a:pPr>
            <a:r>
              <a:rPr lang="en"/>
              <a:t>Has a Deep customer context (history, purchases, behavior)</a:t>
            </a:r>
            <a:endParaRPr/>
          </a:p>
          <a:p>
            <a:pPr indent="-317500" lvl="0" marL="457200" rtl="0" algn="l">
              <a:spcBef>
                <a:spcPts val="0"/>
              </a:spcBef>
              <a:spcAft>
                <a:spcPts val="0"/>
              </a:spcAft>
              <a:buSzPts val="1400"/>
              <a:buChar char="●"/>
            </a:pPr>
            <a:r>
              <a:rPr lang="en"/>
              <a:t>Provides Agents with responses to the questions asked by the Customer.</a:t>
            </a:r>
            <a:endParaRPr/>
          </a:p>
          <a:p>
            <a:pPr indent="-317500" lvl="0" marL="457200" rtl="0" algn="l">
              <a:spcBef>
                <a:spcPts val="0"/>
              </a:spcBef>
              <a:spcAft>
                <a:spcPts val="0"/>
              </a:spcAft>
              <a:buSzPts val="1400"/>
              <a:buChar char="●"/>
            </a:pPr>
            <a:r>
              <a:rPr lang="en"/>
              <a:t>Has Strong automation and reporting </a:t>
            </a:r>
            <a:endParaRPr/>
          </a:p>
          <a:p>
            <a:pPr indent="-330200" lvl="0" marL="457200" rtl="0" algn="l">
              <a:spcBef>
                <a:spcPts val="0"/>
              </a:spcBef>
              <a:spcAft>
                <a:spcPts val="0"/>
              </a:spcAft>
              <a:buSzPts val="1600"/>
              <a:buChar char="●"/>
            </a:pPr>
            <a:r>
              <a:rPr lang="en">
                <a:solidFill>
                  <a:srgbClr val="001D35"/>
                </a:solidFill>
              </a:rPr>
              <a:t>Automatically logs emails and web contact forms directly into the CRM system</a:t>
            </a:r>
            <a:r>
              <a:rPr lang="en">
                <a:solidFill>
                  <a:srgbClr val="0A0A0A"/>
                </a:solidFill>
                <a:highlight>
                  <a:srgbClr val="FFFFFF"/>
                </a:highlight>
              </a:rPr>
              <a:t>,</a:t>
            </a:r>
            <a:endParaRPr sz="1600"/>
          </a:p>
          <a:p>
            <a:pPr indent="-317500" lvl="0" marL="457200" rtl="0" algn="l">
              <a:spcBef>
                <a:spcPts val="0"/>
              </a:spcBef>
              <a:spcAft>
                <a:spcPts val="0"/>
              </a:spcAft>
              <a:buSzPts val="1400"/>
              <a:buChar char="●"/>
            </a:pPr>
            <a:r>
              <a:rPr lang="en">
                <a:solidFill>
                  <a:srgbClr val="0A0A0A"/>
                </a:solidFill>
                <a:highlight>
                  <a:srgbClr val="FFFFFF"/>
                </a:highlight>
              </a:rPr>
              <a:t>Salesforce AI can be configured to operate in different modes ranging from assisting the human agent to acting autonomously</a:t>
            </a:r>
            <a:endParaRPr>
              <a:solidFill>
                <a:srgbClr val="0A0A0A"/>
              </a:solidFill>
              <a:highlight>
                <a:srgbClr val="FFFFFF"/>
              </a:highlight>
            </a:endParaRPr>
          </a:p>
          <a:p>
            <a:pPr indent="-317500" lvl="0" marL="457200" rtl="0" algn="l">
              <a:spcBef>
                <a:spcPts val="0"/>
              </a:spcBef>
              <a:spcAft>
                <a:spcPts val="0"/>
              </a:spcAft>
              <a:buClr>
                <a:srgbClr val="0A0A0A"/>
              </a:buClr>
              <a:buSzPts val="1400"/>
              <a:buChar char="●"/>
            </a:pPr>
            <a:r>
              <a:rPr lang="en">
                <a:solidFill>
                  <a:srgbClr val="0A0A0A"/>
                </a:solidFill>
                <a:highlight>
                  <a:srgbClr val="FFFFFF"/>
                </a:highlight>
              </a:rPr>
              <a:t>Provides automation capabilities to enable feedback from Customers</a:t>
            </a:r>
            <a:endParaRPr>
              <a:solidFill>
                <a:srgbClr val="0A0A0A"/>
              </a:solidFill>
              <a:highlight>
                <a:srgbClr val="FFFFFF"/>
              </a:highlight>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6"/>
          <p:cNvSpPr txBox="1"/>
          <p:nvPr/>
        </p:nvSpPr>
        <p:spPr>
          <a:xfrm>
            <a:off x="65850" y="53825"/>
            <a:ext cx="90123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Sprinklr does the following for </a:t>
            </a:r>
            <a:r>
              <a:rPr b="1" lang="en"/>
              <a:t>Social Media messages</a:t>
            </a:r>
            <a:r>
              <a:rPr lang="en"/>
              <a: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Classifies messages correctly into complaints,questions or crisis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Detects sentiment and urgency of the message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Routes the message to the </a:t>
            </a:r>
            <a:r>
              <a:rPr lang="en"/>
              <a:t>appropriate</a:t>
            </a:r>
            <a:r>
              <a:rPr lang="en"/>
              <a:t> team automatically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Automatically logs the social media messages into the CRM system</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Can be configured to offer a feedback form to the Customer</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32" name="Shape 132"/>
        <p:cNvGrpSpPr/>
        <p:nvPr/>
      </p:nvGrpSpPr>
      <p:grpSpPr>
        <a:xfrm>
          <a:off x="0" y="0"/>
          <a:ext cx="0" cy="0"/>
          <a:chOff x="0" y="0"/>
          <a:chExt cx="0" cy="0"/>
        </a:xfrm>
      </p:grpSpPr>
      <p:sp>
        <p:nvSpPr>
          <p:cNvPr id="133" name="Google Shape;133;p37"/>
          <p:cNvSpPr txBox="1"/>
          <p:nvPr>
            <p:ph type="ctrTitle"/>
          </p:nvPr>
        </p:nvSpPr>
        <p:spPr>
          <a:xfrm>
            <a:off x="96875" y="3487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Proposed AI integration</a:t>
            </a:r>
            <a:endParaRPr sz="4000">
              <a:solidFill>
                <a:srgbClr val="1A1A1A"/>
              </a:solidFill>
              <a:latin typeface="Inter ExtraBold"/>
              <a:ea typeface="Inter ExtraBold"/>
              <a:cs typeface="Inter ExtraBold"/>
              <a:sym typeface="Inter ExtraBold"/>
            </a:endParaRPr>
          </a:p>
        </p:txBody>
      </p:sp>
      <p:sp>
        <p:nvSpPr>
          <p:cNvPr id="134" name="Google Shape;134;p37"/>
          <p:cNvSpPr/>
          <p:nvPr/>
        </p:nvSpPr>
        <p:spPr>
          <a:xfrm>
            <a:off x="228600" y="1375825"/>
            <a:ext cx="2722200" cy="3539100"/>
          </a:xfrm>
          <a:prstGeom prst="snip2DiagRect">
            <a:avLst>
              <a:gd fmla="val 0" name="adj1"/>
              <a:gd fmla="val 9217" name="adj2"/>
            </a:avLst>
          </a:prstGeom>
          <a:solidFill>
            <a:schemeClr val="lt1"/>
          </a:solidFill>
          <a:ln>
            <a:noFill/>
          </a:ln>
        </p:spPr>
        <p:txBody>
          <a:bodyPr anchorCtr="0" anchor="t" bIns="274300" lIns="91425" spcFirstLastPara="1" rIns="91425" wrap="square" tIns="91425">
            <a:noAutofit/>
          </a:bodyPr>
          <a:lstStyle/>
          <a:p>
            <a:pPr indent="0" lvl="0" marL="0" rtl="0" algn="l">
              <a:spcBef>
                <a:spcPts val="0"/>
              </a:spcBef>
              <a:spcAft>
                <a:spcPts val="0"/>
              </a:spcAft>
              <a:buNone/>
            </a:pPr>
            <a:r>
              <a:rPr lang="en" sz="1300">
                <a:solidFill>
                  <a:srgbClr val="1A1A1A"/>
                </a:solidFill>
                <a:latin typeface="Inter Medium"/>
                <a:ea typeface="Inter Medium"/>
                <a:cs typeface="Inter Medium"/>
                <a:sym typeface="Inter Medium"/>
              </a:rPr>
              <a:t>Google Cloud Contact Center AI can manage Voice calls to the CSRs </a:t>
            </a:r>
            <a:endParaRPr sz="13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1300">
              <a:solidFill>
                <a:srgbClr val="1A1A1A"/>
              </a:solidFill>
              <a:latin typeface="Inter Medium"/>
              <a:ea typeface="Inter Medium"/>
              <a:cs typeface="Inter Medium"/>
              <a:sym typeface="Inter Medium"/>
            </a:endParaRPr>
          </a:p>
          <a:p>
            <a:pPr indent="0" lvl="0" marL="0" rtl="0" algn="l">
              <a:spcBef>
                <a:spcPts val="0"/>
              </a:spcBef>
              <a:spcAft>
                <a:spcPts val="0"/>
              </a:spcAft>
              <a:buNone/>
            </a:pPr>
            <a:r>
              <a:rPr lang="en" sz="1300">
                <a:solidFill>
                  <a:srgbClr val="1A1A1A"/>
                </a:solidFill>
                <a:latin typeface="Inter Medium"/>
                <a:ea typeface="Inter Medium"/>
                <a:cs typeface="Inter Medium"/>
                <a:sym typeface="Inter Medium"/>
              </a:rPr>
              <a:t>Salesforce Service Cloud (with Einstein AI) can handle Emails and Web forms submitted to the CSRs</a:t>
            </a:r>
            <a:endParaRPr sz="13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1300">
              <a:solidFill>
                <a:srgbClr val="1A1A1A"/>
              </a:solidFill>
              <a:latin typeface="Inter Medium"/>
              <a:ea typeface="Inter Medium"/>
              <a:cs typeface="Inter Medium"/>
              <a:sym typeface="Inter Medium"/>
            </a:endParaRPr>
          </a:p>
          <a:p>
            <a:pPr indent="0" lvl="0" marL="0" rtl="0" algn="l">
              <a:spcBef>
                <a:spcPts val="0"/>
              </a:spcBef>
              <a:spcAft>
                <a:spcPts val="0"/>
              </a:spcAft>
              <a:buNone/>
            </a:pPr>
            <a:r>
              <a:rPr lang="en" sz="1300">
                <a:solidFill>
                  <a:srgbClr val="1A1A1A"/>
                </a:solidFill>
                <a:latin typeface="Inter Medium"/>
                <a:ea typeface="Inter Medium"/>
                <a:cs typeface="Inter Medium"/>
                <a:sym typeface="Inter Medium"/>
              </a:rPr>
              <a:t>Sprinklr can manage Social Media messages to the CSRs  </a:t>
            </a:r>
            <a:endParaRPr sz="13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13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13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2200">
              <a:solidFill>
                <a:srgbClr val="1A1A1A"/>
              </a:solidFill>
              <a:latin typeface="Inter Medium"/>
              <a:ea typeface="Inter Medium"/>
              <a:cs typeface="Inter Medium"/>
              <a:sym typeface="Inter Medium"/>
            </a:endParaRPr>
          </a:p>
          <a:p>
            <a:pPr indent="0" lvl="0" marL="0" rtl="0" algn="l">
              <a:spcBef>
                <a:spcPts val="0"/>
              </a:spcBef>
              <a:spcAft>
                <a:spcPts val="0"/>
              </a:spcAft>
              <a:buNone/>
            </a:pPr>
            <a:r>
              <a:t/>
            </a:r>
            <a:endParaRPr sz="2200">
              <a:solidFill>
                <a:srgbClr val="1A1A1A"/>
              </a:solidFill>
              <a:latin typeface="Inter Medium"/>
              <a:ea typeface="Inter Medium"/>
              <a:cs typeface="Inter Medium"/>
              <a:sym typeface="Inter Medium"/>
            </a:endParaRPr>
          </a:p>
        </p:txBody>
      </p:sp>
      <p:sp>
        <p:nvSpPr>
          <p:cNvPr id="135" name="Google Shape;135;p37"/>
          <p:cNvSpPr/>
          <p:nvPr/>
        </p:nvSpPr>
        <p:spPr>
          <a:xfrm>
            <a:off x="3209550" y="1375825"/>
            <a:ext cx="2724900" cy="3539100"/>
          </a:xfrm>
          <a:prstGeom prst="roundRect">
            <a:avLst>
              <a:gd fmla="val 9118" name="adj"/>
            </a:avLst>
          </a:prstGeom>
          <a:solidFill>
            <a:schemeClr val="lt1"/>
          </a:solidFill>
          <a:ln>
            <a:noFill/>
          </a:ln>
        </p:spPr>
        <p:txBody>
          <a:bodyPr anchorCtr="0" anchor="t" bIns="274300" lIns="182875" spcFirstLastPara="1" rIns="182875" wrap="square" tIns="91425">
            <a:noAutofit/>
          </a:bodyPr>
          <a:lstStyle/>
          <a:p>
            <a:pPr indent="0" lvl="0" marL="0" marR="0" rtl="0" algn="l">
              <a:spcBef>
                <a:spcPts val="0"/>
              </a:spcBef>
              <a:spcAft>
                <a:spcPts val="0"/>
              </a:spcAft>
              <a:buNone/>
            </a:pPr>
            <a:r>
              <a:rPr lang="en" sz="1300"/>
              <a:t>The</a:t>
            </a:r>
            <a:r>
              <a:rPr lang="en" sz="1300"/>
              <a:t> advantage of using these AI tools are:</a:t>
            </a:r>
            <a:endParaRPr sz="1300"/>
          </a:p>
          <a:p>
            <a:pPr indent="0" lvl="0" marL="0" marR="0" rtl="0" algn="l">
              <a:spcBef>
                <a:spcPts val="0"/>
              </a:spcBef>
              <a:spcAft>
                <a:spcPts val="0"/>
              </a:spcAft>
              <a:buNone/>
            </a:pPr>
            <a:r>
              <a:rPr lang="en" sz="1300"/>
              <a:t>Repetitive and time consuming tasks can be automated using these AI tools.</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rPr lang="en" sz="1300"/>
              <a:t>The Customers get a more efficient </a:t>
            </a:r>
            <a:r>
              <a:rPr lang="en" sz="1300"/>
              <a:t>experience</a:t>
            </a:r>
            <a:r>
              <a:rPr lang="en" sz="1300"/>
              <a:t> with </a:t>
            </a:r>
            <a:r>
              <a:rPr lang="en" sz="1300"/>
              <a:t>agents</a:t>
            </a:r>
            <a:r>
              <a:rPr lang="en" sz="1300"/>
              <a:t> with better knowledge and no long wait times</a:t>
            </a:r>
            <a:endParaRPr sz="1300"/>
          </a:p>
          <a:p>
            <a:pPr indent="0" lvl="0" marL="0" marR="0" rtl="0" algn="l">
              <a:spcBef>
                <a:spcPts val="0"/>
              </a:spcBef>
              <a:spcAft>
                <a:spcPts val="0"/>
              </a:spcAft>
              <a:buNone/>
            </a:pPr>
            <a:r>
              <a:t/>
            </a:r>
            <a:endParaRPr sz="1300"/>
          </a:p>
          <a:p>
            <a:pPr indent="0" lvl="0" marL="0" marR="0" rtl="0" algn="l">
              <a:spcBef>
                <a:spcPts val="0"/>
              </a:spcBef>
              <a:spcAft>
                <a:spcPts val="0"/>
              </a:spcAft>
              <a:buNone/>
            </a:pPr>
            <a:r>
              <a:rPr lang="en" sz="1300"/>
              <a:t>The AI tools can free up the agents to perform tasks that </a:t>
            </a:r>
            <a:r>
              <a:rPr lang="en" sz="1300"/>
              <a:t>involve</a:t>
            </a:r>
            <a:r>
              <a:rPr lang="en" sz="1300"/>
              <a:t> higher priority and urgency</a:t>
            </a:r>
            <a:endParaRPr sz="1300"/>
          </a:p>
        </p:txBody>
      </p:sp>
      <p:sp>
        <p:nvSpPr>
          <p:cNvPr id="136" name="Google Shape;136;p37"/>
          <p:cNvSpPr/>
          <p:nvPr/>
        </p:nvSpPr>
        <p:spPr>
          <a:xfrm>
            <a:off x="6193200" y="1375825"/>
            <a:ext cx="2724900" cy="3517800"/>
          </a:xfrm>
          <a:prstGeom prst="snip1Rect">
            <a:avLst>
              <a:gd fmla="val 9643" name="adj"/>
            </a:avLst>
          </a:prstGeom>
          <a:solidFill>
            <a:schemeClr val="lt1"/>
          </a:solidFill>
          <a:ln>
            <a:noFill/>
          </a:ln>
        </p:spPr>
        <p:txBody>
          <a:bodyPr anchorCtr="0" anchor="t" bIns="274300" lIns="274300" spcFirstLastPara="1" rIns="274300" wrap="square" tIns="91425">
            <a:noAutofit/>
          </a:bodyPr>
          <a:lstStyle/>
          <a:p>
            <a:pPr indent="0" lvl="0" marL="0" rtl="0" algn="l">
              <a:spcBef>
                <a:spcPts val="0"/>
              </a:spcBef>
              <a:spcAft>
                <a:spcPts val="0"/>
              </a:spcAft>
              <a:buNone/>
            </a:pPr>
            <a:r>
              <a:rPr lang="en" sz="1300"/>
              <a:t>The one major cautionary note is that the solutions provided by these AI tools should be first checked by live </a:t>
            </a:r>
            <a:r>
              <a:rPr lang="en" sz="1300"/>
              <a:t>humans</a:t>
            </a:r>
            <a:r>
              <a:rPr lang="en" sz="1300"/>
              <a:t> agents before providing them to the Customer.</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AI can sometimes generate </a:t>
            </a:r>
            <a:r>
              <a:rPr lang="en" sz="1300"/>
              <a:t>wrong</a:t>
            </a:r>
            <a:r>
              <a:rPr lang="en" sz="1300"/>
              <a:t> or </a:t>
            </a:r>
            <a:r>
              <a:rPr lang="en" sz="1300"/>
              <a:t>insufficient</a:t>
            </a:r>
            <a:r>
              <a:rPr lang="en" sz="1300"/>
              <a:t> answers for the Customer.</a:t>
            </a:r>
            <a:endParaRPr sz="1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8"/>
          <p:cNvSpPr txBox="1"/>
          <p:nvPr/>
        </p:nvSpPr>
        <p:spPr>
          <a:xfrm>
            <a:off x="389750" y="129950"/>
            <a:ext cx="8299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IMPROVED WORKFLOW WITH AI Applications Integrated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The workflow given in the next slide adds AI applications to automated the time consuming and tedious tasks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They free up the live agent to perform more crucial tasks like handle complex and Urgent calls that typically can’t be handled by the AI applications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The color code for AI application tasks is yellow</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The color code for live human performed tasks is orange.</a:t>
            </a:r>
            <a:endParaRPr/>
          </a:p>
          <a:p>
            <a:pPr indent="0" lvl="0" marL="914400" rtl="0" algn="l">
              <a:spcBef>
                <a:spcPts val="0"/>
              </a:spcBef>
              <a:spcAft>
                <a:spcPts val="0"/>
              </a:spcAft>
              <a:buNone/>
            </a:pPr>
            <a:r>
              <a:t/>
            </a:r>
            <a:endParaRPr/>
          </a:p>
          <a:p>
            <a:pPr indent="0" lvl="0" marL="914400" rtl="0" algn="l">
              <a:spcBef>
                <a:spcPts val="0"/>
              </a:spcBef>
              <a:spcAft>
                <a:spcPts val="0"/>
              </a:spcAft>
              <a:buNone/>
            </a:pPr>
            <a:r>
              <a:rPr lang="en"/>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45" name="Shape 145"/>
        <p:cNvGrpSpPr/>
        <p:nvPr/>
      </p:nvGrpSpPr>
      <p:grpSpPr>
        <a:xfrm>
          <a:off x="0" y="0"/>
          <a:ext cx="0" cy="0"/>
          <a:chOff x="0" y="0"/>
          <a:chExt cx="0" cy="0"/>
        </a:xfrm>
      </p:grpSpPr>
      <p:sp>
        <p:nvSpPr>
          <p:cNvPr id="146" name="Google Shape;146;p39"/>
          <p:cNvSpPr txBox="1"/>
          <p:nvPr>
            <p:ph type="ctrTitle"/>
          </p:nvPr>
        </p:nvSpPr>
        <p:spPr>
          <a:xfrm>
            <a:off x="2471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Updated</a:t>
            </a:r>
            <a:r>
              <a:rPr lang="en" sz="4000">
                <a:solidFill>
                  <a:srgbClr val="1A1A1A"/>
                </a:solidFill>
                <a:latin typeface="Inter ExtraBold"/>
                <a:ea typeface="Inter ExtraBold"/>
                <a:cs typeface="Inter ExtraBold"/>
                <a:sym typeface="Inter ExtraBold"/>
              </a:rPr>
              <a:t> Workflow </a:t>
            </a:r>
            <a:r>
              <a:rPr lang="en" sz="4000">
                <a:solidFill>
                  <a:srgbClr val="1A1A1A"/>
                </a:solidFill>
                <a:latin typeface="Inter ExtraBold"/>
                <a:ea typeface="Inter ExtraBold"/>
                <a:cs typeface="Inter ExtraBold"/>
                <a:sym typeface="Inter ExtraBold"/>
              </a:rPr>
              <a:t>with AI</a:t>
            </a:r>
            <a:endParaRPr sz="4000">
              <a:solidFill>
                <a:srgbClr val="1A1A1A"/>
              </a:solidFill>
              <a:latin typeface="Inter ExtraBold"/>
              <a:ea typeface="Inter ExtraBold"/>
              <a:cs typeface="Inter ExtraBold"/>
              <a:sym typeface="Inter ExtraBold"/>
            </a:endParaRPr>
          </a:p>
        </p:txBody>
      </p:sp>
      <p:sp>
        <p:nvSpPr>
          <p:cNvPr id="147" name="Google Shape;147;p39"/>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48" name="Google Shape;148;p39" title="Customer_Support_Workflow_Improved.jpg"/>
          <p:cNvPicPr preferRelativeResize="0"/>
          <p:nvPr/>
        </p:nvPicPr>
        <p:blipFill>
          <a:blip r:embed="rId3">
            <a:alphaModFix/>
          </a:blip>
          <a:stretch>
            <a:fillRect/>
          </a:stretch>
        </p:blipFill>
        <p:spPr>
          <a:xfrm>
            <a:off x="603775" y="1486850"/>
            <a:ext cx="7077074" cy="34680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0"/>
          <p:cNvSpPr txBox="1"/>
          <p:nvPr/>
        </p:nvSpPr>
        <p:spPr>
          <a:xfrm>
            <a:off x="1047050" y="214000"/>
            <a:ext cx="7810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The previous flowchart can also be accessed on this link if the font appears too small: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https://miro.com/welcomeonboard/Z2NlNDQzQk9ySEJraHpTN1Nha1lqcjFBUzJkTEtiQmlnalZiZVVCZUNoS0NlTzROZGhNcDdDY3FOZXZlKzNMMEVhbU50elVDNHhCRy9PZk5CL2pRZ1VQZlRWZ3NNMU9RSWJpRnFZK3pqOTh2ZUUyMjFpSHM1eEtkcnpyQkRFZ1FnbHpza3F6REdEcmNpNEFOMmJXWXBBPT0hdjE=?share_link_id=717524108742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57" name="Shape 157"/>
        <p:cNvGrpSpPr/>
        <p:nvPr/>
      </p:nvGrpSpPr>
      <p:grpSpPr>
        <a:xfrm>
          <a:off x="0" y="0"/>
          <a:ext cx="0" cy="0"/>
          <a:chOff x="0" y="0"/>
          <a:chExt cx="0" cy="0"/>
        </a:xfrm>
      </p:grpSpPr>
      <p:pic>
        <p:nvPicPr>
          <p:cNvPr id="158" name="Google Shape;158;p4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9" name="Google Shape;159;p41"/>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Conclusion</a:t>
            </a:r>
            <a:endParaRPr sz="4000">
              <a:solidFill>
                <a:srgbClr val="1A1A1A"/>
              </a:solidFill>
              <a:latin typeface="Inter ExtraBold"/>
              <a:ea typeface="Inter ExtraBold"/>
              <a:cs typeface="Inter ExtraBold"/>
              <a:sym typeface="Inter ExtraBold"/>
            </a:endParaRPr>
          </a:p>
        </p:txBody>
      </p:sp>
      <p:sp>
        <p:nvSpPr>
          <p:cNvPr id="160" name="Google Shape;160;p41"/>
          <p:cNvSpPr txBox="1"/>
          <p:nvPr>
            <p:ph idx="1" type="subTitle"/>
          </p:nvPr>
        </p:nvSpPr>
        <p:spPr>
          <a:xfrm>
            <a:off x="139800" y="1176975"/>
            <a:ext cx="8520600" cy="3737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sz="2000">
              <a:solidFill>
                <a:srgbClr val="1A1A1A"/>
              </a:solidFill>
              <a:latin typeface="Inter"/>
              <a:ea typeface="Inter"/>
              <a:cs typeface="Inter"/>
              <a:sym typeface="Inter"/>
            </a:endParaRPr>
          </a:p>
          <a:p>
            <a:pPr indent="0" lvl="0" marL="0" rtl="0" algn="l">
              <a:spcBef>
                <a:spcPts val="0"/>
              </a:spcBef>
              <a:spcAft>
                <a:spcPts val="0"/>
              </a:spcAft>
              <a:buNone/>
            </a:pPr>
            <a:r>
              <a:t/>
            </a:r>
            <a:endParaRPr sz="2000">
              <a:solidFill>
                <a:srgbClr val="1A1A1A"/>
              </a:solidFill>
              <a:latin typeface="Inter"/>
              <a:ea typeface="Inter"/>
              <a:cs typeface="Inter"/>
              <a:sym typeface="Inter"/>
            </a:endParaRPr>
          </a:p>
          <a:p>
            <a:pPr indent="0" lvl="0" marL="0" rtl="0" algn="l">
              <a:spcBef>
                <a:spcPts val="0"/>
              </a:spcBef>
              <a:spcAft>
                <a:spcPts val="0"/>
              </a:spcAft>
              <a:buNone/>
            </a:pPr>
            <a:r>
              <a:t/>
            </a:r>
            <a:endParaRPr sz="2000">
              <a:solidFill>
                <a:srgbClr val="1A1A1A"/>
              </a:solidFill>
              <a:latin typeface="Inter"/>
              <a:ea typeface="Inter"/>
              <a:cs typeface="Inter"/>
              <a:sym typeface="Inter"/>
            </a:endParaRPr>
          </a:p>
          <a:p>
            <a:pPr indent="0" lvl="0" marL="0" rtl="0" algn="l">
              <a:spcBef>
                <a:spcPts val="0"/>
              </a:spcBef>
              <a:spcAft>
                <a:spcPts val="0"/>
              </a:spcAft>
              <a:buNone/>
            </a:pPr>
            <a:r>
              <a:t/>
            </a:r>
            <a:endParaRPr sz="2000">
              <a:solidFill>
                <a:srgbClr val="1A1A1A"/>
              </a:solidFill>
              <a:latin typeface="Inter"/>
              <a:ea typeface="Inter"/>
              <a:cs typeface="Inter"/>
              <a:sym typeface="Inter"/>
            </a:endParaRPr>
          </a:p>
          <a:p>
            <a:pPr indent="0" lvl="0" marL="0" rtl="0" algn="l">
              <a:spcBef>
                <a:spcPts val="0"/>
              </a:spcBef>
              <a:spcAft>
                <a:spcPts val="0"/>
              </a:spcAft>
              <a:buNone/>
            </a:pPr>
            <a:r>
              <a:t/>
            </a:r>
            <a:endParaRPr sz="2000">
              <a:solidFill>
                <a:srgbClr val="1A1A1A"/>
              </a:solidFill>
              <a:latin typeface="Inter"/>
              <a:ea typeface="Inter"/>
              <a:cs typeface="Inter"/>
              <a:sym typeface="Inter"/>
            </a:endParaRPr>
          </a:p>
          <a:p>
            <a:pPr indent="0" lvl="0" marL="0" rtl="0" algn="l">
              <a:spcBef>
                <a:spcPts val="0"/>
              </a:spcBef>
              <a:spcAft>
                <a:spcPts val="0"/>
              </a:spcAft>
              <a:buNone/>
            </a:pPr>
            <a:r>
              <a:t/>
            </a:r>
            <a:endParaRPr sz="2000">
              <a:solidFill>
                <a:srgbClr val="1A1A1A"/>
              </a:solidFill>
              <a:latin typeface="Inter"/>
              <a:ea typeface="Inter"/>
              <a:cs typeface="Inter"/>
              <a:sym typeface="Inter"/>
            </a:endParaRPr>
          </a:p>
          <a:p>
            <a:pPr indent="0" lvl="0" marL="0" rtl="0" algn="l">
              <a:spcBef>
                <a:spcPts val="0"/>
              </a:spcBef>
              <a:spcAft>
                <a:spcPts val="0"/>
              </a:spcAft>
              <a:buNone/>
            </a:pPr>
            <a:r>
              <a:rPr lang="en" sz="2000">
                <a:solidFill>
                  <a:srgbClr val="1A1A1A"/>
                </a:solidFill>
                <a:latin typeface="Inter"/>
                <a:ea typeface="Inter"/>
                <a:cs typeface="Inter"/>
                <a:sym typeface="Inter"/>
              </a:rPr>
              <a:t>Modern AI applications can greatly streamline the Customer Support Business </a:t>
            </a:r>
            <a:r>
              <a:rPr lang="en" sz="2000">
                <a:solidFill>
                  <a:srgbClr val="1A1A1A"/>
                </a:solidFill>
                <a:latin typeface="Inter"/>
                <a:ea typeface="Inter"/>
                <a:cs typeface="Inter"/>
                <a:sym typeface="Inter"/>
              </a:rPr>
              <a:t>processes</a:t>
            </a:r>
            <a:r>
              <a:rPr lang="en" sz="2000">
                <a:solidFill>
                  <a:srgbClr val="1A1A1A"/>
                </a:solidFill>
                <a:latin typeface="Inter"/>
                <a:ea typeface="Inter"/>
                <a:cs typeface="Inter"/>
                <a:sym typeface="Inter"/>
              </a:rPr>
              <a:t> and their Workflows by Automating repetitive tasks and the tasks that are so long that they can’t be efficiently done by live human agents.</a:t>
            </a:r>
            <a:endParaRPr sz="2000">
              <a:solidFill>
                <a:srgbClr val="1A1A1A"/>
              </a:solidFill>
              <a:latin typeface="Inter"/>
              <a:ea typeface="Inter"/>
              <a:cs typeface="Inter"/>
              <a:sym typeface="Inter"/>
            </a:endParaRPr>
          </a:p>
          <a:p>
            <a:pPr indent="0" lvl="0" marL="0" rtl="0" algn="l">
              <a:spcBef>
                <a:spcPts val="0"/>
              </a:spcBef>
              <a:spcAft>
                <a:spcPts val="0"/>
              </a:spcAft>
              <a:buNone/>
            </a:pPr>
            <a:r>
              <a:rPr lang="en" sz="2000">
                <a:solidFill>
                  <a:srgbClr val="1A1A1A"/>
                </a:solidFill>
                <a:latin typeface="Inter"/>
                <a:ea typeface="Inter"/>
                <a:cs typeface="Inter"/>
                <a:sym typeface="Inter"/>
              </a:rPr>
              <a:t>These AI workflows can seamlessly integrate with CRM </a:t>
            </a:r>
            <a:r>
              <a:rPr lang="en" sz="2000">
                <a:solidFill>
                  <a:srgbClr val="1A1A1A"/>
                </a:solidFill>
                <a:latin typeface="Inter"/>
                <a:ea typeface="Inter"/>
                <a:cs typeface="Inter"/>
                <a:sym typeface="Inter"/>
              </a:rPr>
              <a:t>solutions and greatly improve efficiency and quality of Customer support.</a:t>
            </a:r>
            <a:endParaRPr sz="2000">
              <a:solidFill>
                <a:srgbClr val="1A1A1A"/>
              </a:solidFill>
              <a:latin typeface="Inter"/>
              <a:ea typeface="Inter"/>
              <a:cs typeface="Inter"/>
              <a:sym typeface="Inter"/>
            </a:endParaRPr>
          </a:p>
          <a:p>
            <a:pPr indent="0" lvl="0" marL="0" rtl="0" algn="l">
              <a:spcBef>
                <a:spcPts val="0"/>
              </a:spcBef>
              <a:spcAft>
                <a:spcPts val="0"/>
              </a:spcAft>
              <a:buNone/>
            </a:pPr>
            <a:r>
              <a:t/>
            </a:r>
            <a:endParaRPr sz="2000">
              <a:solidFill>
                <a:srgbClr val="1A1A1A"/>
              </a:solidFill>
              <a:latin typeface="Inter"/>
              <a:ea typeface="Inter"/>
              <a:cs typeface="Inter"/>
              <a:sym typeface="Inter"/>
            </a:endParaRPr>
          </a:p>
          <a:p>
            <a:pPr indent="0" lvl="0" marL="0" rtl="0" algn="l">
              <a:spcBef>
                <a:spcPts val="0"/>
              </a:spcBef>
              <a:spcAft>
                <a:spcPts val="0"/>
              </a:spcAft>
              <a:buNone/>
            </a:pPr>
            <a:r>
              <a:rPr lang="en" sz="2000">
                <a:solidFill>
                  <a:srgbClr val="1A1A1A"/>
                </a:solidFill>
                <a:latin typeface="Inter"/>
                <a:ea typeface="Inter"/>
                <a:cs typeface="Inter"/>
                <a:sym typeface="Inter"/>
              </a:rPr>
              <a:t>The one thing to note is that it is still risky to do end to end automation of the entire Call, email, web form or Social media message of the Customer. There should be a final check performed by a human , especially if the nature of the complaint, question or urgent issue is compex.</a:t>
            </a:r>
            <a:endParaRPr sz="2000">
              <a:solidFill>
                <a:srgbClr val="1A1A1A"/>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